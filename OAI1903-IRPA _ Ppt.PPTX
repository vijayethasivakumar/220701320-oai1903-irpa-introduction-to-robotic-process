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8"/>
  </p:notesMasterIdLst>
  <p:handoutMasterIdLst>
    <p:handoutMasterId r:id="rId29"/>
  </p:handoutMasterIdLst>
  <p:sldIdLst>
    <p:sldId id="280" r:id="rId2"/>
    <p:sldId id="366" r:id="rId3"/>
    <p:sldId id="380" r:id="rId4"/>
    <p:sldId id="383" r:id="rId5"/>
    <p:sldId id="384" r:id="rId6"/>
    <p:sldId id="385" r:id="rId7"/>
    <p:sldId id="386" r:id="rId8"/>
    <p:sldId id="387" r:id="rId9"/>
    <p:sldId id="388" r:id="rId10"/>
    <p:sldId id="400" r:id="rId11"/>
    <p:sldId id="390" r:id="rId12"/>
    <p:sldId id="401" r:id="rId13"/>
    <p:sldId id="402" r:id="rId14"/>
    <p:sldId id="403" r:id="rId15"/>
    <p:sldId id="391" r:id="rId16"/>
    <p:sldId id="405" r:id="rId17"/>
    <p:sldId id="406" r:id="rId18"/>
    <p:sldId id="408" r:id="rId19"/>
    <p:sldId id="409" r:id="rId20"/>
    <p:sldId id="392" r:id="rId21"/>
    <p:sldId id="410" r:id="rId22"/>
    <p:sldId id="393" r:id="rId23"/>
    <p:sldId id="394" r:id="rId24"/>
    <p:sldId id="398" r:id="rId25"/>
    <p:sldId id="395" r:id="rId26"/>
    <p:sldId id="281"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364" autoAdjust="0"/>
  </p:normalViewPr>
  <p:slideViewPr>
    <p:cSldViewPr>
      <p:cViewPr varScale="1">
        <p:scale>
          <a:sx n="84" d="100"/>
          <a:sy n="84" d="100"/>
        </p:scale>
        <p:origin x="169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22</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23</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24</a:t>
            </a:fld>
            <a:endParaRPr lang="en-US"/>
          </a:p>
        </p:txBody>
      </p:sp>
    </p:spTree>
    <p:extLst>
      <p:ext uri="{BB962C8B-B14F-4D97-AF65-F5344CB8AC3E}">
        <p14:creationId xmlns:p14="http://schemas.microsoft.com/office/powerpoint/2010/main" val="31746253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25</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26</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4841204"/>
            <a:chOff x="-14748" y="986564"/>
            <a:chExt cx="9158748" cy="4841204"/>
          </a:xfrm>
        </p:grpSpPr>
        <p:sp>
          <p:nvSpPr>
            <p:cNvPr id="22" name="TextBox 21"/>
            <p:cNvSpPr txBox="1"/>
            <p:nvPr/>
          </p:nvSpPr>
          <p:spPr>
            <a:xfrm>
              <a:off x="177781" y="4812105"/>
              <a:ext cx="4322209" cy="1015663"/>
            </a:xfrm>
            <a:prstGeom prst="rect">
              <a:avLst/>
            </a:prstGeom>
            <a:noFill/>
          </p:spPr>
          <p:txBody>
            <a:bodyPr wrap="square" rtlCol="0">
              <a:spAutoFit/>
            </a:bodyPr>
            <a:lstStyle/>
            <a:p>
              <a:r>
                <a:rPr lang="en-US" sz="2000" b="1" dirty="0"/>
                <a:t>Your Register No:220701320</a:t>
              </a:r>
            </a:p>
            <a:p>
              <a:r>
                <a:rPr lang="en-US" sz="2000" b="1" dirty="0"/>
                <a:t>Name: </a:t>
              </a:r>
              <a:r>
                <a:rPr lang="en-US" sz="2000" b="1" dirty="0" err="1"/>
                <a:t>S.T.Vijayetha</a:t>
              </a:r>
              <a:endParaRPr lang="en-US" sz="2000" b="1" dirty="0"/>
            </a:p>
            <a:p>
              <a:r>
                <a:rPr lang="en-US" sz="2000" b="1" dirty="0"/>
                <a:t>Designation and Department: IRPA</a:t>
              </a:r>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4188156" cy="1569660"/>
              </a:xfrm>
              <a:prstGeom prst="rect">
                <a:avLst/>
              </a:prstGeom>
              <a:noFill/>
            </p:spPr>
            <p:txBody>
              <a:bodyPr wrap="square" rtlCol="0">
                <a:spAutoFit/>
              </a:bodyPr>
              <a:lstStyle/>
              <a:p>
                <a:endParaRPr lang="en-US" sz="2400" b="1" dirty="0">
                  <a:solidFill>
                    <a:schemeClr val="bg1"/>
                  </a:solidFill>
                  <a:ea typeface="Open Sans Bold" panose="020B0806030504020204" pitchFamily="34" charset="0"/>
                  <a:cs typeface="Open Sans Bold" panose="020B0806030504020204" pitchFamily="34" charset="0"/>
                </a:endParaRPr>
              </a:p>
              <a:p>
                <a:r>
                  <a:rPr lang="en-US" sz="2400" b="1" dirty="0">
                    <a:solidFill>
                      <a:schemeClr val="bg1"/>
                    </a:solidFill>
                    <a:ea typeface="Open Sans Bold" panose="020B0806030504020204" pitchFamily="34" charset="0"/>
                    <a:cs typeface="Open Sans Bold" panose="020B0806030504020204" pitchFamily="34" charset="0"/>
                  </a:rPr>
                  <a:t>The Automated Festival Countdown and Train Booking Reminder System </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                          Abstract</a:t>
            </a:r>
          </a:p>
        </p:txBody>
      </p:sp>
      <p:sp>
        <p:nvSpPr>
          <p:cNvPr id="3" name="Content Placeholder 2"/>
          <p:cNvSpPr>
            <a:spLocks noGrp="1"/>
          </p:cNvSpPr>
          <p:nvPr>
            <p:ph idx="1"/>
          </p:nvPr>
        </p:nvSpPr>
        <p:spPr/>
        <p:txBody>
          <a:bodyPr>
            <a:normAutofit/>
          </a:bodyPr>
          <a:lstStyle/>
          <a:p>
            <a:endParaRPr lang="en-US" sz="1800" dirty="0">
              <a:latin typeface="Aptos Display" panose="020B0004020202020204" pitchFamily="34" charset="0"/>
            </a:endParaRPr>
          </a:p>
          <a:p>
            <a:r>
              <a:rPr lang="en-US" sz="1800" dirty="0">
                <a:latin typeface="Aptos Display" panose="020B0004020202020204" pitchFamily="34" charset="0"/>
              </a:rPr>
              <a:t>The </a:t>
            </a:r>
            <a:r>
              <a:rPr lang="en-US" sz="1800" b="1" dirty="0">
                <a:latin typeface="Aptos Display" panose="020B0004020202020204" pitchFamily="34" charset="0"/>
              </a:rPr>
              <a:t>Automated Festival Countdown and Train Booking Reminder System Using UiPath</a:t>
            </a:r>
            <a:r>
              <a:rPr lang="en-US" sz="1800" dirty="0">
                <a:latin typeface="Aptos Display" panose="020B0004020202020204" pitchFamily="34" charset="0"/>
              </a:rPr>
              <a:t> is a user-centric project designed to streamline festival planning and train ticket booking management. This system leverages UiPath's automation capabilities to dynamically read festival data from an Excel sheet, including festival names, dates, train booking start and end dates. Users provide a festival name as input, and the system calculates the train booking timeline, days remaining for booking to open, and whether booking is currently open or closed. It displays clear, intuitive outputs such as the festival name, date, booking start and end dates, and the current booking status. The project integrates real-time date calculations to ensure accuracy and user relevance. Additionally, it can be enhanced with features like SMS/email notifications, multi-year data support, and real-time train booking data, making it a scalable solution for festive travel planning. This automation reduces manual effort, enhances user convenience, and ensures no opportunity is missed due to delayed bookings</a:t>
            </a:r>
            <a:r>
              <a:rPr lang="en-US" dirty="0"/>
              <a:t>.</a:t>
            </a: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     Need for the Proposed System</a:t>
            </a:r>
            <a:endParaRPr lang="en-IN" b="1" dirty="0"/>
          </a:p>
        </p:txBody>
      </p:sp>
      <p:sp>
        <p:nvSpPr>
          <p:cNvPr id="3" name="Content Placeholder 2"/>
          <p:cNvSpPr>
            <a:spLocks noGrp="1"/>
          </p:cNvSpPr>
          <p:nvPr>
            <p:ph idx="1"/>
          </p:nvPr>
        </p:nvSpPr>
        <p:spPr/>
        <p:txBody>
          <a:bodyPr>
            <a:normAutofit/>
          </a:bodyPr>
          <a:lstStyle/>
          <a:p>
            <a:endParaRPr lang="en-US" sz="1800" dirty="0">
              <a:latin typeface="Aptos Display" panose="020B0004020202020204" pitchFamily="34" charset="0"/>
            </a:endParaRPr>
          </a:p>
          <a:p>
            <a:r>
              <a:rPr lang="en-US" sz="1800" dirty="0">
                <a:latin typeface="Aptos Display" panose="020B0004020202020204" pitchFamily="34" charset="0"/>
              </a:rPr>
              <a:t>The </a:t>
            </a:r>
            <a:r>
              <a:rPr lang="en-US" sz="1800" b="1" dirty="0">
                <a:latin typeface="Aptos Display" panose="020B0004020202020204" pitchFamily="34" charset="0"/>
              </a:rPr>
              <a:t>Automated Festival Countdown and Train Booking Reminder System Using UiPath</a:t>
            </a:r>
            <a:r>
              <a:rPr lang="en-US" sz="1800" dirty="0">
                <a:latin typeface="Aptos Display" panose="020B0004020202020204" pitchFamily="34" charset="0"/>
              </a:rPr>
              <a:t> is a comprehensive automation project designed to help users efficiently manage festival schedules and train ticket bookings. This system reads structured data from an Excel sheet containing festival names, dates, and train booking start and end dates, then processes this data to deliver accurate and real-time updates. Users input the name of a festival, and the system calculates key details such as the remaining days until booking opens, the duration for which bookings are available, and whether the booking period has ended. It then displays the festival name, date, booking start and end dates, and a clear status update (e.g., "Booking Open," "Booking Closed," or "Booking Yet to Start"). The project eliminates the need for manual date tracking, ensuring accuracy and convenience. Scalable and user-friendly, this system can be enhanced with features like multi-year data support, SMS/email notifications for reminders, and real-time integration with train booking systems, making it an indispensable tool for users to stay organized during the festive season and avoid missed opportunities for travel arrangements</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869" y="129381"/>
            <a:ext cx="8763000" cy="808037"/>
          </a:xfrm>
        </p:spPr>
        <p:txBody>
          <a:bodyPr>
            <a:normAutofit/>
          </a:bodyPr>
          <a:lstStyle/>
          <a:p>
            <a:r>
              <a:rPr lang="en-US" b="1" dirty="0"/>
              <a:t> Advantages of the Proposed System</a:t>
            </a:r>
            <a:endParaRPr lang="en-IN" b="1" dirty="0">
              <a:latin typeface="+mj-lt"/>
            </a:endParaRPr>
          </a:p>
        </p:txBody>
      </p:sp>
      <p:sp>
        <p:nvSpPr>
          <p:cNvPr id="4" name="Rectangle 1">
            <a:extLst>
              <a:ext uri="{FF2B5EF4-FFF2-40B4-BE49-F238E27FC236}">
                <a16:creationId xmlns:a16="http://schemas.microsoft.com/office/drawing/2014/main" id="{8B79CAA6-6E84-E685-0662-F4C617297D54}"/>
              </a:ext>
            </a:extLst>
          </p:cNvPr>
          <p:cNvSpPr>
            <a:spLocks noGrp="1" noChangeArrowheads="1"/>
          </p:cNvSpPr>
          <p:nvPr>
            <p:ph idx="1"/>
          </p:nvPr>
        </p:nvSpPr>
        <p:spPr bwMode="auto">
          <a:xfrm>
            <a:off x="431540" y="1313040"/>
            <a:ext cx="835292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ptos Display" panose="020B0004020202020204" pitchFamily="34" charset="0"/>
              </a:rPr>
              <a:t>Automated Notifications</a:t>
            </a:r>
            <a:r>
              <a:rPr kumimoji="0" lang="en-US" altLang="en-US" sz="1800" b="0" i="0" u="none" strike="noStrike" cap="none" normalizeH="0" baseline="0" dirty="0">
                <a:ln>
                  <a:noFill/>
                </a:ln>
                <a:solidFill>
                  <a:schemeClr val="tx1"/>
                </a:solidFill>
                <a:effectLst/>
                <a:latin typeface="Aptos Display" panose="020B0004020202020204" pitchFamily="34" charset="0"/>
              </a:rPr>
              <a:t>: Sends timely reminders via email and SMS about upcoming festivals and train booking dates, ensuring users don’t miss important events.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ptos Display" panose="020B0004020202020204" pitchFamily="34" charset="0"/>
              </a:rPr>
              <a:t>Real-Time Data</a:t>
            </a:r>
            <a:r>
              <a:rPr kumimoji="0" lang="en-US" altLang="en-US" sz="1800" b="0" i="0" u="none" strike="noStrike" cap="none" normalizeH="0" baseline="0" dirty="0">
                <a:ln>
                  <a:noFill/>
                </a:ln>
                <a:solidFill>
                  <a:schemeClr val="tx1"/>
                </a:solidFill>
                <a:effectLst/>
                <a:latin typeface="Aptos Display" panose="020B0004020202020204" pitchFamily="34" charset="0"/>
              </a:rPr>
              <a:t>: Provides up-to-date train booking information, helping users secure tickets based on current availability.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ptos Display" panose="020B0004020202020204" pitchFamily="34" charset="0"/>
              </a:rPr>
              <a:t>Customizable &amp; Dynamic</a:t>
            </a:r>
            <a:r>
              <a:rPr kumimoji="0" lang="en-US" altLang="en-US" sz="1800" b="0" i="0" u="none" strike="noStrike" cap="none" normalizeH="0" baseline="0" dirty="0">
                <a:ln>
                  <a:noFill/>
                </a:ln>
                <a:solidFill>
                  <a:schemeClr val="tx1"/>
                </a:solidFill>
                <a:effectLst/>
                <a:latin typeface="Aptos Display" panose="020B0004020202020204" pitchFamily="34" charset="0"/>
              </a:rPr>
              <a:t>: Allows users to personalize festival lists and ensures the system stays updated with new events and dates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ptos Display" panose="020B0004020202020204" pitchFamily="34" charset="0"/>
              </a:rPr>
              <a:t>Countdown Feature</a:t>
            </a:r>
            <a:r>
              <a:rPr kumimoji="0" lang="en-US" altLang="en-US" sz="1800" b="0" i="0" u="none" strike="noStrike" cap="none" normalizeH="0" baseline="0" dirty="0">
                <a:ln>
                  <a:noFill/>
                </a:ln>
                <a:solidFill>
                  <a:schemeClr val="tx1"/>
                </a:solidFill>
                <a:effectLst/>
                <a:latin typeface="Aptos Display" panose="020B0004020202020204" pitchFamily="34" charset="0"/>
              </a:rPr>
              <a:t>: Displays a countdown to upcoming festivals or booking dates, helping users stay organized and plan ahead.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ptos Display" panose="020B0004020202020204" pitchFamily="34" charset="0"/>
              </a:rPr>
              <a:t>User-Friendly Interface</a:t>
            </a:r>
            <a:r>
              <a:rPr kumimoji="0" lang="en-US" altLang="en-US" sz="1800" b="0" i="0" u="none" strike="noStrike" cap="none" normalizeH="0" baseline="0" dirty="0">
                <a:ln>
                  <a:noFill/>
                </a:ln>
                <a:solidFill>
                  <a:schemeClr val="tx1"/>
                </a:solidFill>
                <a:effectLst/>
                <a:latin typeface="Aptos Display" panose="020B0004020202020204" pitchFamily="34" charset="0"/>
              </a:rPr>
              <a:t>: Easy-to-use design with clear visuals for countdowns and notifications, enhancing the overall user experience.</a:t>
            </a: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29381"/>
            <a:ext cx="8763000" cy="808037"/>
          </a:xfrm>
        </p:spPr>
        <p:txBody>
          <a:bodyPr>
            <a:normAutofit/>
          </a:bodyPr>
          <a:lstStyle/>
          <a:p>
            <a:r>
              <a:rPr lang="en-US" b="1" dirty="0"/>
              <a:t>              Literature Survey </a:t>
            </a:r>
            <a:endParaRPr lang="en-IN" b="1" dirty="0">
              <a:latin typeface="+mj-lt"/>
            </a:endParaRPr>
          </a:p>
        </p:txBody>
      </p:sp>
      <p:sp>
        <p:nvSpPr>
          <p:cNvPr id="3" name="Content Placeholder 2"/>
          <p:cNvSpPr>
            <a:spLocks noGrp="1"/>
          </p:cNvSpPr>
          <p:nvPr>
            <p:ph idx="1"/>
          </p:nvPr>
        </p:nvSpPr>
        <p:spPr/>
        <p:txBody>
          <a:bodyPr/>
          <a:lstStyle/>
          <a:p>
            <a:r>
              <a:rPr lang="en-US" dirty="0"/>
              <a:t>Paper 1</a:t>
            </a:r>
          </a:p>
          <a:p>
            <a:r>
              <a:rPr lang="en-US" dirty="0"/>
              <a:t>Advantages</a:t>
            </a:r>
          </a:p>
          <a:p>
            <a:r>
              <a:rPr lang="en-US" dirty="0"/>
              <a:t>Disadvantages</a:t>
            </a:r>
          </a:p>
          <a:p>
            <a:r>
              <a:rPr lang="en-US" dirty="0"/>
              <a:t>Paper 2</a:t>
            </a:r>
          </a:p>
          <a:p>
            <a:r>
              <a:rPr lang="en-US" dirty="0"/>
              <a:t>Advantages</a:t>
            </a:r>
          </a:p>
          <a:p>
            <a:r>
              <a:rPr lang="en-US" dirty="0"/>
              <a:t>Disadvantages</a:t>
            </a:r>
          </a:p>
          <a:p>
            <a:endParaRPr lang="en-US" dirty="0"/>
          </a:p>
          <a:p>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                   Main Objective</a:t>
            </a:r>
            <a:endParaRPr lang="en-IN" b="1" dirty="0">
              <a:latin typeface="+mj-lt"/>
            </a:endParaRPr>
          </a:p>
        </p:txBody>
      </p:sp>
      <p:sp>
        <p:nvSpPr>
          <p:cNvPr id="3" name="Content Placeholder 2"/>
          <p:cNvSpPr>
            <a:spLocks noGrp="1"/>
          </p:cNvSpPr>
          <p:nvPr>
            <p:ph idx="1"/>
          </p:nvPr>
        </p:nvSpPr>
        <p:spPr/>
        <p:txBody>
          <a:bodyPr/>
          <a:lstStyle/>
          <a:p>
            <a:endParaRPr lang="en-US" dirty="0">
              <a:latin typeface="Aptos Display" panose="020B0004020202020204" pitchFamily="34" charset="0"/>
            </a:endParaRPr>
          </a:p>
          <a:p>
            <a:r>
              <a:rPr lang="en-US" dirty="0">
                <a:latin typeface="Aptos Display" panose="020B0004020202020204" pitchFamily="34" charset="0"/>
              </a:rPr>
              <a:t>The main objective of the </a:t>
            </a:r>
            <a:r>
              <a:rPr lang="en-US" b="1" dirty="0">
                <a:latin typeface="Aptos Display" panose="020B0004020202020204" pitchFamily="34" charset="0"/>
              </a:rPr>
              <a:t>Automated Festival Countdown and Train Booking Reminder System</a:t>
            </a:r>
            <a:r>
              <a:rPr lang="en-US" dirty="0">
                <a:latin typeface="Aptos Display" panose="020B0004020202020204" pitchFamily="34" charset="0"/>
              </a:rPr>
              <a:t> project is to provide users with timely notifications and reminders for upcoming festivals and train booking dates, ensuring they don't miss important events. The system aims to enhance convenience by automating the process of tracking festivals, calculating countdowns, and providing real-time train booking data. It also allows for customization, supports multiple languages, and can include weather forecasts for better planning, all through an intuitive user interface</a:t>
            </a:r>
            <a:r>
              <a:rPr lang="en-US" dirty="0"/>
              <a:t>.</a:t>
            </a:r>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                       Architecture</a:t>
            </a:r>
            <a:endParaRPr lang="en-IN" b="1" dirty="0">
              <a:latin typeface="+mj-lt"/>
            </a:endParaRPr>
          </a:p>
        </p:txBody>
      </p:sp>
      <p:pic>
        <p:nvPicPr>
          <p:cNvPr id="4" name="Content Placeholder 3">
            <a:extLst>
              <a:ext uri="{FF2B5EF4-FFF2-40B4-BE49-F238E27FC236}">
                <a16:creationId xmlns:a16="http://schemas.microsoft.com/office/drawing/2014/main" id="{EDE4717A-8F26-F0BD-A619-508B8629CE8F}"/>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rcRect/>
          <a:stretch>
            <a:fillRect/>
          </a:stretch>
        </p:blipFill>
        <p:spPr bwMode="auto">
          <a:xfrm>
            <a:off x="190500" y="1896625"/>
            <a:ext cx="8763000" cy="3521949"/>
          </a:xfrm>
          <a:prstGeom prst="rect">
            <a:avLst/>
          </a:prstGeom>
          <a:noFill/>
          <a:ln>
            <a:noFill/>
          </a:ln>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           System Requirements</a:t>
            </a:r>
            <a:endParaRPr lang="en-IN" b="1" dirty="0">
              <a:latin typeface="+mj-lt"/>
            </a:endParaRPr>
          </a:p>
        </p:txBody>
      </p:sp>
      <p:sp>
        <p:nvSpPr>
          <p:cNvPr id="3" name="Content Placeholder 2"/>
          <p:cNvSpPr>
            <a:spLocks noGrp="1"/>
          </p:cNvSpPr>
          <p:nvPr>
            <p:ph idx="1"/>
          </p:nvPr>
        </p:nvSpPr>
        <p:spPr/>
        <p:txBody>
          <a:bodyPr>
            <a:normAutofit/>
          </a:bodyPr>
          <a:lstStyle/>
          <a:p>
            <a:endParaRPr lang="en-IN" sz="1600" b="1" dirty="0">
              <a:latin typeface="Aptos Display" panose="020B0004020202020204" pitchFamily="34" charset="0"/>
            </a:endParaRPr>
          </a:p>
          <a:p>
            <a:r>
              <a:rPr lang="en-IN" sz="2000" b="1" dirty="0">
                <a:latin typeface="Aptos Display" panose="020B0004020202020204" pitchFamily="34" charset="0"/>
              </a:rPr>
              <a:t>Hardware Requirements</a:t>
            </a:r>
            <a:r>
              <a:rPr lang="en-IN" sz="1600" b="1" dirty="0">
                <a:latin typeface="Aptos Display" panose="020B0004020202020204" pitchFamily="34" charset="0"/>
              </a:rPr>
              <a:t>:</a:t>
            </a:r>
          </a:p>
          <a:p>
            <a:pPr>
              <a:buFont typeface="Arial" panose="020B0604020202020204" pitchFamily="34" charset="0"/>
              <a:buChar char="•"/>
            </a:pPr>
            <a:r>
              <a:rPr lang="en-IN" sz="1800" b="1" dirty="0"/>
              <a:t>Processor</a:t>
            </a:r>
            <a:r>
              <a:rPr lang="en-IN" sz="1600" dirty="0">
                <a:latin typeface="Aptos Display" panose="020B0004020202020204" pitchFamily="34" charset="0"/>
              </a:rPr>
              <a:t>: 2.0 GHz dual-core (recommended 2.5 GHz or higher).</a:t>
            </a:r>
          </a:p>
          <a:p>
            <a:pPr>
              <a:buFont typeface="Arial" panose="020B0604020202020204" pitchFamily="34" charset="0"/>
              <a:buChar char="•"/>
            </a:pPr>
            <a:r>
              <a:rPr lang="en-IN" sz="1800" b="1" dirty="0"/>
              <a:t>RAM</a:t>
            </a:r>
            <a:r>
              <a:rPr lang="en-IN" sz="1600" dirty="0">
                <a:latin typeface="Aptos Display" panose="020B0004020202020204" pitchFamily="34" charset="0"/>
              </a:rPr>
              <a:t>: Minimum 4 GB (recommended 8 GB).</a:t>
            </a:r>
          </a:p>
          <a:p>
            <a:pPr>
              <a:buFont typeface="Arial" panose="020B0604020202020204" pitchFamily="34" charset="0"/>
              <a:buChar char="•"/>
            </a:pPr>
            <a:r>
              <a:rPr lang="en-IN" sz="1800" b="1" dirty="0"/>
              <a:t>Storage</a:t>
            </a:r>
            <a:r>
              <a:rPr lang="en-IN" sz="1600" dirty="0">
                <a:latin typeface="Aptos Display" panose="020B0004020202020204" pitchFamily="34" charset="0"/>
              </a:rPr>
              <a:t>: 500 MB free space (recommended 1 GB).</a:t>
            </a:r>
          </a:p>
          <a:p>
            <a:pPr>
              <a:buFont typeface="Arial" panose="020B0604020202020204" pitchFamily="34" charset="0"/>
              <a:buChar char="•"/>
            </a:pPr>
            <a:r>
              <a:rPr lang="en-IN" sz="1800" b="1" dirty="0"/>
              <a:t>Display</a:t>
            </a:r>
            <a:r>
              <a:rPr lang="en-IN" sz="1600" dirty="0">
                <a:latin typeface="Aptos Display" panose="020B0004020202020204" pitchFamily="34" charset="0"/>
              </a:rPr>
              <a:t>: 1024 x 768 resolution (recommended 1920 x 1080).</a:t>
            </a:r>
          </a:p>
          <a:p>
            <a:pPr>
              <a:buFont typeface="Arial" panose="020B0604020202020204" pitchFamily="34" charset="0"/>
              <a:buChar char="•"/>
            </a:pPr>
            <a:r>
              <a:rPr lang="en-IN" sz="1800" b="1" dirty="0"/>
              <a:t>Internet</a:t>
            </a:r>
            <a:r>
              <a:rPr lang="en-IN" sz="1600" dirty="0">
                <a:latin typeface="Aptos Display" panose="020B0004020202020204" pitchFamily="34" charset="0"/>
              </a:rPr>
              <a:t>: Required for API access and notifications.</a:t>
            </a:r>
          </a:p>
          <a:p>
            <a:r>
              <a:rPr lang="en-IN" sz="2000" b="1" dirty="0">
                <a:latin typeface="Aptos Display" panose="020B0004020202020204" pitchFamily="34" charset="0"/>
              </a:rPr>
              <a:t>Software Requirements</a:t>
            </a:r>
            <a:r>
              <a:rPr lang="en-IN" sz="1600" b="1" dirty="0">
                <a:latin typeface="Aptos Display" panose="020B0004020202020204" pitchFamily="34" charset="0"/>
              </a:rPr>
              <a:t>:</a:t>
            </a:r>
          </a:p>
          <a:p>
            <a:pPr>
              <a:buFont typeface="Arial" panose="020B0604020202020204" pitchFamily="34" charset="0"/>
              <a:buChar char="•"/>
            </a:pPr>
            <a:r>
              <a:rPr lang="en-IN" sz="1800" b="1" dirty="0"/>
              <a:t>Operating System</a:t>
            </a:r>
            <a:r>
              <a:rPr lang="en-IN" sz="1600" dirty="0">
                <a:latin typeface="Aptos Display" panose="020B0004020202020204" pitchFamily="34" charset="0"/>
              </a:rPr>
              <a:t>: Windows 10 or Windows Server 2016+.</a:t>
            </a:r>
          </a:p>
          <a:p>
            <a:pPr>
              <a:buFont typeface="Arial" panose="020B0604020202020204" pitchFamily="34" charset="0"/>
              <a:buChar char="•"/>
            </a:pPr>
            <a:r>
              <a:rPr lang="en-IN" sz="1800" b="1" dirty="0"/>
              <a:t>UiPath Studio &amp; Robot</a:t>
            </a:r>
            <a:r>
              <a:rPr lang="en-IN" sz="1600" dirty="0">
                <a:latin typeface="Aptos Display" panose="020B0004020202020204" pitchFamily="34" charset="0"/>
              </a:rPr>
              <a:t>: Latest version of UiPath Studio and Robot installed.</a:t>
            </a:r>
          </a:p>
          <a:p>
            <a:pPr>
              <a:buFont typeface="Arial" panose="020B0604020202020204" pitchFamily="34" charset="0"/>
              <a:buChar char="•"/>
            </a:pPr>
            <a:r>
              <a:rPr lang="en-IN" sz="1800" b="1" dirty="0"/>
              <a:t>UiPath Orchestrato</a:t>
            </a:r>
            <a:r>
              <a:rPr lang="en-IN" sz="1600" b="1" dirty="0">
                <a:latin typeface="Aptos Display" panose="020B0004020202020204" pitchFamily="34" charset="0"/>
              </a:rPr>
              <a:t>r</a:t>
            </a:r>
            <a:r>
              <a:rPr lang="en-IN" sz="1600" dirty="0">
                <a:latin typeface="Aptos Display" panose="020B0004020202020204" pitchFamily="34" charset="0"/>
              </a:rPr>
              <a:t>: Optional for scheduling and monitoring workflows.</a:t>
            </a:r>
          </a:p>
          <a:p>
            <a:pPr>
              <a:buFont typeface="Arial" panose="020B0604020202020204" pitchFamily="34" charset="0"/>
              <a:buChar char="•"/>
            </a:pPr>
            <a:r>
              <a:rPr lang="en-IN" sz="1800" b="1" dirty="0"/>
              <a:t>Database</a:t>
            </a:r>
            <a:r>
              <a:rPr lang="en-IN" sz="1600" dirty="0"/>
              <a:t>:</a:t>
            </a:r>
            <a:r>
              <a:rPr lang="en-IN" sz="1600" dirty="0">
                <a:latin typeface="Aptos Display" panose="020B0004020202020204" pitchFamily="34" charset="0"/>
              </a:rPr>
              <a:t> SQL Server, MySQL, or Excel for storing data.</a:t>
            </a:r>
          </a:p>
          <a:p>
            <a:pPr>
              <a:buFont typeface="Arial" panose="020B0604020202020204" pitchFamily="34" charset="0"/>
              <a:buChar char="•"/>
            </a:pPr>
            <a:r>
              <a:rPr lang="en-IN" sz="1800" b="1" dirty="0"/>
              <a:t>Notification</a:t>
            </a:r>
            <a:r>
              <a:rPr lang="en-IN" sz="1600" b="1" dirty="0">
                <a:latin typeface="Aptos Display" panose="020B0004020202020204" pitchFamily="34" charset="0"/>
              </a:rPr>
              <a:t> </a:t>
            </a:r>
            <a:r>
              <a:rPr lang="en-IN" sz="1800" b="1" dirty="0"/>
              <a:t>Services</a:t>
            </a:r>
            <a:r>
              <a:rPr lang="en-IN" sz="1600" dirty="0">
                <a:latin typeface="Aptos Display" panose="020B0004020202020204" pitchFamily="34" charset="0"/>
              </a:rPr>
              <a:t>: SMTP or SendGrid for emails, Twilio for SMS.</a:t>
            </a:r>
          </a:p>
          <a:p>
            <a:pPr>
              <a:buFont typeface="Arial" panose="020B0604020202020204" pitchFamily="34" charset="0"/>
              <a:buChar char="•"/>
            </a:pPr>
            <a:r>
              <a:rPr lang="en-IN" sz="1800" b="1" dirty="0"/>
              <a:t>Web</a:t>
            </a:r>
            <a:r>
              <a:rPr lang="en-IN" sz="1600" b="1" dirty="0">
                <a:latin typeface="Aptos Display" panose="020B0004020202020204" pitchFamily="34" charset="0"/>
              </a:rPr>
              <a:t> </a:t>
            </a:r>
            <a:r>
              <a:rPr lang="en-IN" sz="1800" b="1" dirty="0">
                <a:latin typeface="Aptos Display" panose="020B0004020202020204" pitchFamily="34" charset="0"/>
              </a:rPr>
              <a:t>Browser</a:t>
            </a:r>
            <a:r>
              <a:rPr lang="en-IN" sz="1600" dirty="0">
                <a:latin typeface="Aptos Display" panose="020B0004020202020204" pitchFamily="34" charset="0"/>
              </a:rPr>
              <a:t>: Chrome or Firefox for scraping and API calls</a:t>
            </a:r>
            <a:r>
              <a:rPr lang="en-IN" sz="1800" dirty="0">
                <a:latin typeface="Aptos Display" panose="020B0004020202020204" pitchFamily="34" charset="0"/>
              </a:rPr>
              <a:t>.</a:t>
            </a:r>
          </a:p>
          <a:p>
            <a:pPr>
              <a:buFont typeface="Arial" panose="020B0604020202020204" pitchFamily="34" charset="0"/>
              <a:buChar char="•"/>
            </a:pPr>
            <a:endParaRPr lang="en-IN" sz="1800" dirty="0"/>
          </a:p>
          <a:p>
            <a:pPr marL="0" indent="0">
              <a:buNone/>
            </a:pPr>
            <a:endParaRPr lang="en-US"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            Functional Description</a:t>
            </a:r>
            <a:endParaRPr lang="en-IN" b="1" dirty="0"/>
          </a:p>
        </p:txBody>
      </p:sp>
      <p:sp>
        <p:nvSpPr>
          <p:cNvPr id="3" name="Content Placeholder 2"/>
          <p:cNvSpPr>
            <a:spLocks noGrp="1"/>
          </p:cNvSpPr>
          <p:nvPr>
            <p:ph idx="1"/>
          </p:nvPr>
        </p:nvSpPr>
        <p:spPr/>
        <p:txBody>
          <a:bodyPr>
            <a:normAutofit fontScale="25000" lnSpcReduction="20000"/>
          </a:bodyPr>
          <a:lstStyle/>
          <a:p>
            <a:pPr marL="0" indent="0">
              <a:buNone/>
            </a:pPr>
            <a:r>
              <a:rPr lang="en-US" sz="5600" b="1" dirty="0"/>
              <a:t>Module 1: Festival Countdown and Notification System</a:t>
            </a:r>
          </a:p>
          <a:p>
            <a:r>
              <a:rPr lang="en-US" sz="5600" b="1" dirty="0"/>
              <a:t>Short Description:</a:t>
            </a:r>
          </a:p>
          <a:p>
            <a:r>
              <a:rPr lang="en-US" sz="5600" dirty="0">
                <a:latin typeface="Aptos Display" panose="020B0004020202020204" pitchFamily="34" charset="0"/>
              </a:rPr>
              <a:t>This module tracks upcoming festivals and their corresponding countdowns. It notifies users about the approaching festivals and provides real-time updates such as train ticket availability for festival travels. It integrates with email and SMS notification systems</a:t>
            </a:r>
            <a:r>
              <a:rPr lang="en-US" sz="5600" dirty="0"/>
              <a:t>.</a:t>
            </a:r>
          </a:p>
          <a:p>
            <a:r>
              <a:rPr lang="en-US" sz="5600" b="1" dirty="0"/>
              <a:t>DFD/Activity Diagram:</a:t>
            </a:r>
          </a:p>
          <a:p>
            <a:pPr>
              <a:buFont typeface="Arial" panose="020B0604020202020204" pitchFamily="34" charset="0"/>
              <a:buChar char="•"/>
            </a:pPr>
            <a:r>
              <a:rPr lang="en-US" sz="5600" b="1" dirty="0"/>
              <a:t>DFD</a:t>
            </a:r>
            <a:r>
              <a:rPr lang="en-US" sz="5600" dirty="0"/>
              <a:t>:</a:t>
            </a:r>
          </a:p>
          <a:p>
            <a:pPr marL="742950" lvl="1" indent="-285750">
              <a:buFont typeface="Arial" panose="020B0604020202020204" pitchFamily="34" charset="0"/>
              <a:buChar char="•"/>
            </a:pPr>
            <a:r>
              <a:rPr lang="en-US" sz="5600" b="1" dirty="0"/>
              <a:t>Level 1</a:t>
            </a:r>
            <a:r>
              <a:rPr lang="en-US" sz="5600" dirty="0"/>
              <a:t>:</a:t>
            </a:r>
          </a:p>
          <a:p>
            <a:pPr marL="1143000" lvl="2" indent="-228600">
              <a:buFont typeface="Arial" panose="020B0604020202020204" pitchFamily="34" charset="0"/>
              <a:buChar char="•"/>
            </a:pPr>
            <a:r>
              <a:rPr lang="en-US" sz="5600" b="1" dirty="0"/>
              <a:t>Input</a:t>
            </a:r>
            <a:r>
              <a:rPr lang="en-US" sz="5600" dirty="0">
                <a:latin typeface="Aptos Display" panose="020B0004020202020204" pitchFamily="34" charset="0"/>
              </a:rPr>
              <a:t>: Excel file with festival data.</a:t>
            </a:r>
          </a:p>
          <a:p>
            <a:pPr marL="1143000" lvl="2" indent="-228600">
              <a:buFont typeface="Arial" panose="020B0604020202020204" pitchFamily="34" charset="0"/>
              <a:buChar char="•"/>
            </a:pPr>
            <a:r>
              <a:rPr lang="en-US" sz="5600" b="1" dirty="0"/>
              <a:t>Process</a:t>
            </a:r>
            <a:r>
              <a:rPr lang="en-US" sz="5600" dirty="0">
                <a:latin typeface="Aptos Display" panose="020B0004020202020204" pitchFamily="34" charset="0"/>
              </a:rPr>
              <a:t>: Calculate countdown to each festival.</a:t>
            </a:r>
          </a:p>
          <a:p>
            <a:pPr marL="1143000" lvl="2" indent="-228600">
              <a:buFont typeface="Arial" panose="020B0604020202020204" pitchFamily="34" charset="0"/>
              <a:buChar char="•"/>
            </a:pPr>
            <a:r>
              <a:rPr lang="en-US" sz="5600" b="1" dirty="0"/>
              <a:t>Output</a:t>
            </a:r>
            <a:r>
              <a:rPr lang="en-US" sz="5600" dirty="0">
                <a:latin typeface="Aptos Display" panose="020B0004020202020204" pitchFamily="34" charset="0"/>
              </a:rPr>
              <a:t>: Countdown data displayed to users via a user interface.</a:t>
            </a:r>
          </a:p>
          <a:p>
            <a:pPr marL="1143000" lvl="2" indent="-228600">
              <a:buFont typeface="Arial" panose="020B0604020202020204" pitchFamily="34" charset="0"/>
              <a:buChar char="•"/>
            </a:pPr>
            <a:r>
              <a:rPr lang="en-US" sz="5600" dirty="0">
                <a:latin typeface="Aptos Display" panose="020B0004020202020204" pitchFamily="34" charset="0"/>
              </a:rPr>
              <a:t>Notification System: Sends alerts about festivals (via Email/SMS).</a:t>
            </a:r>
          </a:p>
          <a:p>
            <a:pPr marL="742950" lvl="1" indent="-285750">
              <a:buFont typeface="Arial" panose="020B0604020202020204" pitchFamily="34" charset="0"/>
              <a:buChar char="•"/>
            </a:pPr>
            <a:r>
              <a:rPr lang="en-US" sz="5600" b="1" dirty="0"/>
              <a:t>Level 2</a:t>
            </a:r>
            <a:r>
              <a:rPr lang="en-US" sz="5600" dirty="0"/>
              <a:t>:</a:t>
            </a:r>
          </a:p>
          <a:p>
            <a:pPr marL="1143000" lvl="2" indent="-228600">
              <a:buFont typeface="Arial" panose="020B0604020202020204" pitchFamily="34" charset="0"/>
              <a:buChar char="•"/>
            </a:pPr>
            <a:r>
              <a:rPr lang="en-US" sz="5600" dirty="0">
                <a:latin typeface="Aptos Display" panose="020B0004020202020204" pitchFamily="34" charset="0"/>
              </a:rPr>
              <a:t>Festival Data Handler: Reads and updates festival data.</a:t>
            </a:r>
          </a:p>
          <a:p>
            <a:pPr marL="1143000" lvl="2" indent="-228600">
              <a:buFont typeface="Arial" panose="020B0604020202020204" pitchFamily="34" charset="0"/>
              <a:buChar char="•"/>
            </a:pPr>
            <a:r>
              <a:rPr lang="en-US" sz="5600" dirty="0">
                <a:latin typeface="Aptos Display" panose="020B0004020202020204" pitchFamily="34" charset="0"/>
              </a:rPr>
              <a:t>Countdown Logic: Calculates and updates the festival countdowns.</a:t>
            </a:r>
          </a:p>
          <a:p>
            <a:pPr marL="1143000" lvl="2" indent="-228600">
              <a:buFont typeface="Arial" panose="020B0604020202020204" pitchFamily="34" charset="0"/>
              <a:buChar char="•"/>
            </a:pPr>
            <a:r>
              <a:rPr lang="en-US" sz="5600" dirty="0">
                <a:latin typeface="Aptos Display" panose="020B0004020202020204" pitchFamily="34" charset="0"/>
              </a:rPr>
              <a:t>Notification Service: Sends out email and SMS notifications based on defined thresholds (e.g., "3 days to go").</a:t>
            </a:r>
          </a:p>
          <a:p>
            <a:pPr>
              <a:buFont typeface="Arial" panose="020B0604020202020204" pitchFamily="34" charset="0"/>
              <a:buChar char="•"/>
            </a:pPr>
            <a:r>
              <a:rPr lang="en-US" sz="5600" b="1" dirty="0">
                <a:latin typeface="+mn-lt"/>
              </a:rPr>
              <a:t>Activity Diagram</a:t>
            </a:r>
            <a:r>
              <a:rPr lang="en-US" sz="5600" dirty="0">
                <a:latin typeface="Aptos Display" panose="020B0004020202020204" pitchFamily="34" charset="0"/>
              </a:rPr>
              <a:t>:</a:t>
            </a:r>
          </a:p>
          <a:p>
            <a:pPr marL="742950" lvl="1" indent="-285750">
              <a:buFont typeface="Arial" panose="020B0604020202020204" pitchFamily="34" charset="0"/>
              <a:buChar char="•"/>
            </a:pPr>
            <a:r>
              <a:rPr lang="en-US" sz="5600" dirty="0">
                <a:latin typeface="Aptos Display" panose="020B0004020202020204" pitchFamily="34" charset="0"/>
              </a:rPr>
              <a:t>User Inputs Festival Data.</a:t>
            </a:r>
          </a:p>
          <a:p>
            <a:pPr marL="742950" lvl="1" indent="-285750">
              <a:buFont typeface="Arial" panose="020B0604020202020204" pitchFamily="34" charset="0"/>
              <a:buChar char="•"/>
            </a:pPr>
            <a:r>
              <a:rPr lang="en-US" sz="5600" dirty="0">
                <a:latin typeface="Aptos Display" panose="020B0004020202020204" pitchFamily="34" charset="0"/>
              </a:rPr>
              <a:t>System Reads Excel Data.</a:t>
            </a:r>
          </a:p>
          <a:p>
            <a:pPr marL="742950" lvl="1" indent="-285750">
              <a:buFont typeface="Arial" panose="020B0604020202020204" pitchFamily="34" charset="0"/>
              <a:buChar char="•"/>
            </a:pPr>
            <a:r>
              <a:rPr lang="en-US" sz="5600" dirty="0">
                <a:latin typeface="Aptos Display" panose="020B0004020202020204" pitchFamily="34" charset="0"/>
              </a:rPr>
              <a:t>System Calculates Countdown.</a:t>
            </a:r>
          </a:p>
          <a:p>
            <a:pPr marL="742950" lvl="1" indent="-285750">
              <a:buFont typeface="Arial" panose="020B0604020202020204" pitchFamily="34" charset="0"/>
              <a:buChar char="•"/>
            </a:pPr>
            <a:r>
              <a:rPr lang="en-US" sz="5600" dirty="0">
                <a:latin typeface="Aptos Display" panose="020B0004020202020204" pitchFamily="34" charset="0"/>
              </a:rPr>
              <a:t>Countdown is Displayed.</a:t>
            </a:r>
          </a:p>
          <a:p>
            <a:pPr marL="742950" lvl="1" indent="-285750">
              <a:buFont typeface="Arial" panose="020B0604020202020204" pitchFamily="34" charset="0"/>
              <a:buChar char="•"/>
            </a:pPr>
            <a:r>
              <a:rPr lang="en-US" sz="5600" dirty="0">
                <a:latin typeface="Aptos Display" panose="020B0004020202020204" pitchFamily="34" charset="0"/>
              </a:rPr>
              <a:t>Check for upcoming festivals.</a:t>
            </a:r>
          </a:p>
          <a:p>
            <a:pPr marL="742950" lvl="1" indent="-285750">
              <a:buFont typeface="Arial" panose="020B0604020202020204" pitchFamily="34" charset="0"/>
              <a:buChar char="•"/>
            </a:pPr>
            <a:r>
              <a:rPr lang="en-US" sz="5600" dirty="0">
                <a:latin typeface="Aptos Display" panose="020B0004020202020204" pitchFamily="34" charset="0"/>
              </a:rPr>
              <a:t>Notification sent if the festival is near</a:t>
            </a:r>
            <a:r>
              <a:rPr lang="en-US" sz="4300" dirty="0">
                <a:latin typeface="Aptos Display" panose="020B0004020202020204" pitchFamily="34" charset="0"/>
              </a:rPr>
              <a:t>.</a:t>
            </a:r>
          </a:p>
          <a:p>
            <a:endParaRPr lang="en-US" dirty="0"/>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474C0-563D-F1FE-621E-1EBF81C7D879}"/>
              </a:ext>
            </a:extLst>
          </p:cNvPr>
          <p:cNvSpPr>
            <a:spLocks noGrp="1"/>
          </p:cNvSpPr>
          <p:nvPr>
            <p:ph type="title"/>
          </p:nvPr>
        </p:nvSpPr>
        <p:spPr/>
        <p:txBody>
          <a:bodyPr/>
          <a:lstStyle/>
          <a:p>
            <a:r>
              <a:rPr lang="en-IN" b="1" dirty="0"/>
              <a:t>          Functional Description</a:t>
            </a:r>
          </a:p>
        </p:txBody>
      </p:sp>
      <p:sp>
        <p:nvSpPr>
          <p:cNvPr id="3" name="Content Placeholder 2">
            <a:extLst>
              <a:ext uri="{FF2B5EF4-FFF2-40B4-BE49-F238E27FC236}">
                <a16:creationId xmlns:a16="http://schemas.microsoft.com/office/drawing/2014/main" id="{6E0F7E9E-1D2A-E993-66A9-51EC990899F9}"/>
              </a:ext>
            </a:extLst>
          </p:cNvPr>
          <p:cNvSpPr>
            <a:spLocks noGrp="1"/>
          </p:cNvSpPr>
          <p:nvPr>
            <p:ph idx="1"/>
          </p:nvPr>
        </p:nvSpPr>
        <p:spPr/>
        <p:txBody>
          <a:bodyPr>
            <a:normAutofit fontScale="62500" lnSpcReduction="20000"/>
          </a:bodyPr>
          <a:lstStyle/>
          <a:p>
            <a:endParaRPr lang="en-US" b="1" dirty="0"/>
          </a:p>
          <a:p>
            <a:r>
              <a:rPr lang="en-US" b="1" dirty="0"/>
              <a:t>Module 2: Train Booking for Festivals</a:t>
            </a:r>
          </a:p>
          <a:p>
            <a:r>
              <a:rPr lang="en-US" b="1" dirty="0"/>
              <a:t>Short Description:</a:t>
            </a:r>
          </a:p>
          <a:p>
            <a:r>
              <a:rPr lang="en-US" dirty="0">
                <a:latin typeface="Aptos Display" panose="020B0004020202020204" pitchFamily="34" charset="0"/>
              </a:rPr>
              <a:t>This module allows users to book train tickets for their desired festival travel dates. It integrates with train booking systems to check for real-time availability and helps in managing travel bookings, including notifications for successful bookings.</a:t>
            </a:r>
          </a:p>
          <a:p>
            <a:r>
              <a:rPr lang="en-US" b="1" dirty="0"/>
              <a:t>DFD/Activity Diagram:</a:t>
            </a:r>
          </a:p>
          <a:p>
            <a:pPr>
              <a:buFont typeface="Arial" panose="020B0604020202020204" pitchFamily="34" charset="0"/>
              <a:buChar char="•"/>
            </a:pPr>
            <a:r>
              <a:rPr lang="en-US" b="1" dirty="0"/>
              <a:t>DFD</a:t>
            </a:r>
            <a:r>
              <a:rPr lang="en-US" dirty="0"/>
              <a:t>:</a:t>
            </a:r>
          </a:p>
          <a:p>
            <a:pPr marL="742950" lvl="1" indent="-285750">
              <a:buFont typeface="Arial" panose="020B0604020202020204" pitchFamily="34" charset="0"/>
              <a:buChar char="•"/>
            </a:pPr>
            <a:r>
              <a:rPr lang="en-US" b="1" dirty="0"/>
              <a:t>Level 1</a:t>
            </a:r>
            <a:r>
              <a:rPr lang="en-US" dirty="0"/>
              <a:t>:</a:t>
            </a:r>
          </a:p>
          <a:p>
            <a:pPr marL="1143000" lvl="2" indent="-228600">
              <a:buFont typeface="Arial" panose="020B0604020202020204" pitchFamily="34" charset="0"/>
              <a:buChar char="•"/>
            </a:pPr>
            <a:r>
              <a:rPr lang="en-US" b="1" dirty="0">
                <a:latin typeface="Aptos Display" panose="020B0004020202020204" pitchFamily="34" charset="0"/>
              </a:rPr>
              <a:t>Input</a:t>
            </a:r>
            <a:r>
              <a:rPr lang="en-US" dirty="0">
                <a:latin typeface="Aptos Display" panose="020B0004020202020204" pitchFamily="34" charset="0"/>
              </a:rPr>
              <a:t>: User selects a festival date for train booking.</a:t>
            </a:r>
          </a:p>
          <a:p>
            <a:pPr marL="1143000" lvl="2" indent="-228600">
              <a:buFont typeface="Arial" panose="020B0604020202020204" pitchFamily="34" charset="0"/>
              <a:buChar char="•"/>
            </a:pPr>
            <a:r>
              <a:rPr lang="en-US" b="1" dirty="0">
                <a:latin typeface="Aptos Display" panose="020B0004020202020204" pitchFamily="34" charset="0"/>
              </a:rPr>
              <a:t>Process</a:t>
            </a:r>
            <a:r>
              <a:rPr lang="en-US" dirty="0">
                <a:latin typeface="Aptos Display" panose="020B0004020202020204" pitchFamily="34" charset="0"/>
              </a:rPr>
              <a:t>: Check real-time availability for trains.</a:t>
            </a:r>
          </a:p>
          <a:p>
            <a:pPr marL="1143000" lvl="2" indent="-228600">
              <a:buFont typeface="Arial" panose="020B0604020202020204" pitchFamily="34" charset="0"/>
              <a:buChar char="•"/>
            </a:pPr>
            <a:r>
              <a:rPr lang="en-US" b="1" dirty="0">
                <a:latin typeface="Aptos Display" panose="020B0004020202020204" pitchFamily="34" charset="0"/>
              </a:rPr>
              <a:t>Output</a:t>
            </a:r>
            <a:r>
              <a:rPr lang="en-US" dirty="0">
                <a:latin typeface="Aptos Display" panose="020B0004020202020204" pitchFamily="34" charset="0"/>
              </a:rPr>
              <a:t>: Display train booking options to the user.</a:t>
            </a:r>
          </a:p>
          <a:p>
            <a:pPr marL="1143000" lvl="2" indent="-228600">
              <a:buFont typeface="Arial" panose="020B0604020202020204" pitchFamily="34" charset="0"/>
              <a:buChar char="•"/>
            </a:pPr>
            <a:r>
              <a:rPr lang="en-US" b="1" dirty="0">
                <a:latin typeface="Aptos Display" panose="020B0004020202020204" pitchFamily="34" charset="0"/>
              </a:rPr>
              <a:t>User</a:t>
            </a:r>
            <a:r>
              <a:rPr lang="en-US" dirty="0">
                <a:latin typeface="Aptos Display" panose="020B0004020202020204" pitchFamily="34" charset="0"/>
              </a:rPr>
              <a:t> makes a booking and receives a confirmation notification</a:t>
            </a:r>
            <a:r>
              <a:rPr lang="en-US" dirty="0"/>
              <a:t>.</a:t>
            </a:r>
          </a:p>
          <a:p>
            <a:pPr marL="742950" lvl="1" indent="-285750">
              <a:buFont typeface="Arial" panose="020B0604020202020204" pitchFamily="34" charset="0"/>
              <a:buChar char="•"/>
            </a:pPr>
            <a:r>
              <a:rPr lang="en-US" b="1" dirty="0"/>
              <a:t>Level 2</a:t>
            </a:r>
            <a:r>
              <a:rPr lang="en-US" dirty="0"/>
              <a:t>:</a:t>
            </a:r>
          </a:p>
          <a:p>
            <a:pPr marL="1143000" lvl="2" indent="-228600">
              <a:buFont typeface="Arial" panose="020B0604020202020204" pitchFamily="34" charset="0"/>
              <a:buChar char="•"/>
            </a:pPr>
            <a:r>
              <a:rPr lang="en-US" dirty="0">
                <a:latin typeface="Aptos Display" panose="020B0004020202020204" pitchFamily="34" charset="0"/>
              </a:rPr>
              <a:t>Booking Data Handler: Fetches available trains for the selected date.</a:t>
            </a:r>
          </a:p>
          <a:p>
            <a:pPr marL="1143000" lvl="2" indent="-228600">
              <a:buFont typeface="Arial" panose="020B0604020202020204" pitchFamily="34" charset="0"/>
              <a:buChar char="•"/>
            </a:pPr>
            <a:r>
              <a:rPr lang="en-US" dirty="0">
                <a:latin typeface="Aptos Display" panose="020B0004020202020204" pitchFamily="34" charset="0"/>
              </a:rPr>
              <a:t>Availability Checker: Verifies available train tickets.</a:t>
            </a:r>
          </a:p>
          <a:p>
            <a:pPr marL="1143000" lvl="2" indent="-228600">
              <a:buFont typeface="Arial" panose="020B0604020202020204" pitchFamily="34" charset="0"/>
              <a:buChar char="•"/>
            </a:pPr>
            <a:r>
              <a:rPr lang="en-US" dirty="0">
                <a:latin typeface="Aptos Display" panose="020B0004020202020204" pitchFamily="34" charset="0"/>
              </a:rPr>
              <a:t>Booking Confirmation: Confirms the booking and sends out an email/SMS notification to the user.</a:t>
            </a:r>
          </a:p>
          <a:p>
            <a:pPr>
              <a:buFont typeface="Arial" panose="020B0604020202020204" pitchFamily="34" charset="0"/>
              <a:buChar char="•"/>
            </a:pPr>
            <a:r>
              <a:rPr lang="en-US" b="1" dirty="0"/>
              <a:t>Activity Diagram</a:t>
            </a:r>
            <a:r>
              <a:rPr lang="en-US" dirty="0"/>
              <a:t>:</a:t>
            </a:r>
          </a:p>
          <a:p>
            <a:pPr marL="742950" lvl="1" indent="-285750">
              <a:buFont typeface="Arial" panose="020B0604020202020204" pitchFamily="34" charset="0"/>
              <a:buChar char="•"/>
            </a:pPr>
            <a:r>
              <a:rPr lang="en-US" dirty="0">
                <a:latin typeface="Aptos Display" panose="020B0004020202020204" pitchFamily="34" charset="0"/>
              </a:rPr>
              <a:t>User selects festival and travel date.</a:t>
            </a:r>
          </a:p>
          <a:p>
            <a:pPr marL="742950" lvl="1" indent="-285750">
              <a:buFont typeface="Arial" panose="020B0604020202020204" pitchFamily="34" charset="0"/>
              <a:buChar char="•"/>
            </a:pPr>
            <a:r>
              <a:rPr lang="en-US" dirty="0">
                <a:latin typeface="Aptos Display" panose="020B0004020202020204" pitchFamily="34" charset="0"/>
              </a:rPr>
              <a:t>System checks for available trains.</a:t>
            </a:r>
          </a:p>
          <a:p>
            <a:pPr marL="742950" lvl="1" indent="-285750">
              <a:buFont typeface="Arial" panose="020B0604020202020204" pitchFamily="34" charset="0"/>
              <a:buChar char="•"/>
            </a:pPr>
            <a:r>
              <a:rPr lang="en-US" dirty="0">
                <a:latin typeface="Aptos Display" panose="020B0004020202020204" pitchFamily="34" charset="0"/>
              </a:rPr>
              <a:t>User selects train.</a:t>
            </a:r>
          </a:p>
          <a:p>
            <a:pPr marL="742950" lvl="1" indent="-285750">
              <a:buFont typeface="Arial" panose="020B0604020202020204" pitchFamily="34" charset="0"/>
              <a:buChar char="•"/>
            </a:pPr>
            <a:r>
              <a:rPr lang="en-US" dirty="0">
                <a:latin typeface="Aptos Display" panose="020B0004020202020204" pitchFamily="34" charset="0"/>
              </a:rPr>
              <a:t>Booking request is processed.</a:t>
            </a:r>
          </a:p>
          <a:p>
            <a:pPr marL="742950" lvl="1" indent="-285750">
              <a:buFont typeface="Arial" panose="020B0604020202020204" pitchFamily="34" charset="0"/>
              <a:buChar char="•"/>
            </a:pPr>
            <a:r>
              <a:rPr lang="en-US" dirty="0">
                <a:latin typeface="Aptos Display" panose="020B0004020202020204" pitchFamily="34" charset="0"/>
              </a:rPr>
              <a:t>System confirms booking and sends confirmation notification.</a:t>
            </a:r>
          </a:p>
          <a:p>
            <a:endParaRPr lang="en-IN" dirty="0"/>
          </a:p>
        </p:txBody>
      </p:sp>
    </p:spTree>
    <p:extLst>
      <p:ext uri="{BB962C8B-B14F-4D97-AF65-F5344CB8AC3E}">
        <p14:creationId xmlns:p14="http://schemas.microsoft.com/office/powerpoint/2010/main" val="2329889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                 Process Design</a:t>
            </a:r>
            <a:endParaRPr lang="en-IN" b="1" dirty="0"/>
          </a:p>
        </p:txBody>
      </p:sp>
      <p:sp>
        <p:nvSpPr>
          <p:cNvPr id="3" name="Content Placeholder 2"/>
          <p:cNvSpPr>
            <a:spLocks noGrp="1"/>
          </p:cNvSpPr>
          <p:nvPr>
            <p:ph idx="1"/>
          </p:nvPr>
        </p:nvSpPr>
        <p:spPr/>
        <p:txBody>
          <a:bodyPr>
            <a:normAutofit/>
          </a:bodyPr>
          <a:lstStyle/>
          <a:p>
            <a:r>
              <a:rPr lang="en-US" sz="1900" b="1" dirty="0"/>
              <a:t>1. Main Process Design</a:t>
            </a:r>
          </a:p>
          <a:p>
            <a:r>
              <a:rPr lang="en-US" sz="1800" dirty="0">
                <a:latin typeface="Aptos Display" panose="020B0004020202020204" pitchFamily="34" charset="0"/>
              </a:rPr>
              <a:t>The </a:t>
            </a:r>
            <a:r>
              <a:rPr lang="en-US" sz="1800" b="1" dirty="0">
                <a:latin typeface="Aptos Display" panose="020B0004020202020204" pitchFamily="34" charset="0"/>
              </a:rPr>
              <a:t>main process</a:t>
            </a:r>
            <a:r>
              <a:rPr lang="en-US" sz="1800" dirty="0">
                <a:latin typeface="Aptos Display" panose="020B0004020202020204" pitchFamily="34" charset="0"/>
              </a:rPr>
              <a:t> outlines the primary steps or stages required to complete the overall task or system.</a:t>
            </a:r>
          </a:p>
          <a:p>
            <a:r>
              <a:rPr lang="en-US" sz="1900" b="1" dirty="0"/>
              <a:t>Example: UiPath Festival Countdown System</a:t>
            </a:r>
            <a:endParaRPr lang="en-US" sz="1900" dirty="0"/>
          </a:p>
          <a:p>
            <a:r>
              <a:rPr lang="en-US" sz="1900" b="1" dirty="0"/>
              <a:t>Main Process</a:t>
            </a:r>
            <a:r>
              <a:rPr lang="en-US" sz="1900" dirty="0"/>
              <a:t>: </a:t>
            </a:r>
            <a:r>
              <a:rPr lang="en-US" sz="1900" b="1" dirty="0"/>
              <a:t>Festival Countdown &amp; Ticket Booking System</a:t>
            </a:r>
            <a:endParaRPr lang="en-US" sz="1900" dirty="0"/>
          </a:p>
          <a:p>
            <a:pPr>
              <a:buFont typeface="Arial" panose="020B0604020202020204" pitchFamily="34" charset="0"/>
              <a:buChar char="•"/>
            </a:pPr>
            <a:r>
              <a:rPr lang="en-US" sz="1900" b="1" dirty="0"/>
              <a:t>Step 1</a:t>
            </a:r>
            <a:r>
              <a:rPr lang="en-US" sz="1900" dirty="0"/>
              <a:t>: </a:t>
            </a:r>
            <a:r>
              <a:rPr lang="en-US" sz="1900" b="1" dirty="0"/>
              <a:t>Initialize Festival Data</a:t>
            </a:r>
            <a:endParaRPr lang="en-US" sz="1900" dirty="0"/>
          </a:p>
          <a:p>
            <a:pPr marL="742950" lvl="1" indent="-285750">
              <a:buFont typeface="Arial" panose="020B0604020202020204" pitchFamily="34" charset="0"/>
              <a:buChar char="•"/>
            </a:pPr>
            <a:r>
              <a:rPr lang="en-US" sz="1900" b="1" dirty="0"/>
              <a:t>Input</a:t>
            </a:r>
            <a:r>
              <a:rPr lang="en-US" sz="1800" b="1" dirty="0">
                <a:latin typeface="Aptos Display" panose="020B0004020202020204" pitchFamily="34" charset="0"/>
              </a:rPr>
              <a:t>: </a:t>
            </a:r>
            <a:r>
              <a:rPr lang="en-US" sz="1800" dirty="0">
                <a:latin typeface="Aptos Display" panose="020B0004020202020204" pitchFamily="34" charset="0"/>
              </a:rPr>
              <a:t>Load festival data from an Excel sheet or external source</a:t>
            </a:r>
            <a:r>
              <a:rPr lang="en-US" sz="1900" dirty="0"/>
              <a:t>.</a:t>
            </a:r>
          </a:p>
          <a:p>
            <a:pPr marL="742950" lvl="1" indent="-285750">
              <a:buFont typeface="Arial" panose="020B0604020202020204" pitchFamily="34" charset="0"/>
              <a:buChar char="•"/>
            </a:pPr>
            <a:r>
              <a:rPr lang="en-US" sz="1900" b="1" dirty="0"/>
              <a:t>Action</a:t>
            </a:r>
            <a:r>
              <a:rPr lang="en-US" sz="1900" dirty="0"/>
              <a:t>: </a:t>
            </a:r>
            <a:r>
              <a:rPr lang="en-US" sz="1900" dirty="0">
                <a:latin typeface="Aptos Display" panose="020B0004020202020204" pitchFamily="34" charset="0"/>
              </a:rPr>
              <a:t>Read the festival names, dates, and other information</a:t>
            </a:r>
            <a:r>
              <a:rPr lang="en-US" sz="1900" dirty="0"/>
              <a:t>.</a:t>
            </a:r>
          </a:p>
          <a:p>
            <a:pPr marL="742950" lvl="1" indent="-285750">
              <a:buFont typeface="Arial" panose="020B0604020202020204" pitchFamily="34" charset="0"/>
              <a:buChar char="•"/>
            </a:pPr>
            <a:r>
              <a:rPr lang="en-US" sz="1900" b="1" dirty="0"/>
              <a:t>Output</a:t>
            </a:r>
            <a:r>
              <a:rPr lang="en-US" sz="1900" dirty="0"/>
              <a:t>: </a:t>
            </a:r>
            <a:r>
              <a:rPr lang="en-US" sz="1900" dirty="0">
                <a:latin typeface="Aptos Display" panose="020B0004020202020204" pitchFamily="34" charset="0"/>
              </a:rPr>
              <a:t>List of festivals with details</a:t>
            </a:r>
            <a:r>
              <a:rPr lang="en-US" sz="1900" dirty="0"/>
              <a:t>.</a:t>
            </a:r>
          </a:p>
          <a:p>
            <a:pPr>
              <a:buFont typeface="Arial" panose="020B0604020202020204" pitchFamily="34" charset="0"/>
              <a:buChar char="•"/>
            </a:pPr>
            <a:r>
              <a:rPr lang="en-US" sz="1900" b="1" dirty="0"/>
              <a:t>Step 2</a:t>
            </a:r>
            <a:r>
              <a:rPr lang="en-US" sz="1900" dirty="0"/>
              <a:t>: </a:t>
            </a:r>
            <a:r>
              <a:rPr lang="en-US" sz="1900" b="1" dirty="0"/>
              <a:t>Calculate Countdown for Each Festival</a:t>
            </a:r>
            <a:endParaRPr lang="en-US" sz="1900" dirty="0"/>
          </a:p>
          <a:p>
            <a:pPr marL="742950" lvl="1" indent="-285750">
              <a:buFont typeface="Arial" panose="020B0604020202020204" pitchFamily="34" charset="0"/>
              <a:buChar char="•"/>
            </a:pPr>
            <a:r>
              <a:rPr lang="en-US" sz="1900" b="1" dirty="0"/>
              <a:t>Input:</a:t>
            </a:r>
            <a:r>
              <a:rPr lang="en-US" sz="1900" dirty="0"/>
              <a:t> </a:t>
            </a:r>
            <a:r>
              <a:rPr lang="en-US" sz="1900" dirty="0">
                <a:latin typeface="Aptos Display" panose="020B0004020202020204" pitchFamily="34" charset="0"/>
              </a:rPr>
              <a:t>Current date, festival dates</a:t>
            </a:r>
            <a:r>
              <a:rPr lang="en-US" sz="1900" dirty="0"/>
              <a:t>.</a:t>
            </a:r>
          </a:p>
          <a:p>
            <a:pPr marL="742950" lvl="1" indent="-285750">
              <a:buFont typeface="Arial" panose="020B0604020202020204" pitchFamily="34" charset="0"/>
              <a:buChar char="•"/>
            </a:pPr>
            <a:r>
              <a:rPr lang="en-US" sz="1900" b="1" dirty="0"/>
              <a:t>Action</a:t>
            </a:r>
            <a:r>
              <a:rPr lang="en-US" sz="1900" dirty="0"/>
              <a:t>: </a:t>
            </a:r>
            <a:r>
              <a:rPr lang="en-US" sz="1900" dirty="0">
                <a:latin typeface="Aptos Display" panose="020B0004020202020204" pitchFamily="34" charset="0"/>
              </a:rPr>
              <a:t>For each festival, calculate the number of days remaining</a:t>
            </a:r>
            <a:r>
              <a:rPr lang="en-US" sz="1900" dirty="0"/>
              <a:t>.</a:t>
            </a:r>
          </a:p>
          <a:p>
            <a:pPr marL="742950" lvl="1" indent="-285750">
              <a:buFont typeface="Arial" panose="020B0604020202020204" pitchFamily="34" charset="0"/>
              <a:buChar char="•"/>
            </a:pPr>
            <a:r>
              <a:rPr lang="en-US" sz="1900" b="1" dirty="0"/>
              <a:t>Output</a:t>
            </a:r>
            <a:r>
              <a:rPr lang="en-US" sz="1900" dirty="0"/>
              <a:t>: </a:t>
            </a:r>
            <a:r>
              <a:rPr lang="en-US" sz="1900" dirty="0">
                <a:latin typeface="Aptos Display" panose="020B0004020202020204" pitchFamily="34" charset="0"/>
              </a:rPr>
              <a:t>Countdown value for each festival</a:t>
            </a:r>
            <a:r>
              <a:rPr lang="en-US" dirty="0"/>
              <a:t>.</a:t>
            </a:r>
          </a:p>
          <a:p>
            <a:pPr marL="0" indent="0">
              <a:buNone/>
            </a:pPr>
            <a:endParaRPr lang="en-US" dirty="0"/>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74E559-867F-E801-9BFA-00FC5B831237}"/>
              </a:ext>
            </a:extLst>
          </p:cNvPr>
          <p:cNvSpPr>
            <a:spLocks noGrp="1"/>
          </p:cNvSpPr>
          <p:nvPr>
            <p:ph idx="1"/>
          </p:nvPr>
        </p:nvSpPr>
        <p:spPr>
          <a:xfrm>
            <a:off x="190500" y="656692"/>
            <a:ext cx="8763000" cy="5334000"/>
          </a:xfrm>
        </p:spPr>
        <p:txBody>
          <a:bodyPr>
            <a:normAutofit fontScale="85000" lnSpcReduction="10000"/>
          </a:bodyPr>
          <a:lstStyle/>
          <a:p>
            <a:pPr>
              <a:buFont typeface="Arial" panose="020B0604020202020204" pitchFamily="34" charset="0"/>
              <a:buChar char="•"/>
            </a:pPr>
            <a:r>
              <a:rPr lang="en-US" sz="1900" b="1" dirty="0">
                <a:latin typeface="Aptos Display" panose="020B0004020202020204" pitchFamily="34" charset="0"/>
              </a:rPr>
              <a:t>Step 3</a:t>
            </a:r>
            <a:r>
              <a:rPr lang="en-US" sz="1900" dirty="0">
                <a:latin typeface="Aptos Display" panose="020B0004020202020204" pitchFamily="34" charset="0"/>
              </a:rPr>
              <a:t>: </a:t>
            </a:r>
            <a:r>
              <a:rPr lang="en-US" sz="1900" b="1" dirty="0">
                <a:latin typeface="Aptos Display" panose="020B0004020202020204" pitchFamily="34" charset="0"/>
              </a:rPr>
              <a:t>Display Festival Information and Countdown</a:t>
            </a:r>
            <a:endParaRPr lang="en-US" sz="1900" dirty="0">
              <a:latin typeface="Aptos Display" panose="020B0004020202020204" pitchFamily="34" charset="0"/>
            </a:endParaRPr>
          </a:p>
          <a:p>
            <a:pPr marL="742950" lvl="1" indent="-285750">
              <a:buFont typeface="Arial" panose="020B0604020202020204" pitchFamily="34" charset="0"/>
              <a:buChar char="•"/>
            </a:pPr>
            <a:r>
              <a:rPr lang="en-US" sz="1900" b="1" dirty="0">
                <a:latin typeface="Aptos Display" panose="020B0004020202020204" pitchFamily="34" charset="0"/>
              </a:rPr>
              <a:t>Input</a:t>
            </a:r>
            <a:r>
              <a:rPr lang="en-US" sz="1900" dirty="0">
                <a:latin typeface="Aptos Display" panose="020B0004020202020204" pitchFamily="34" charset="0"/>
              </a:rPr>
              <a:t>: Festival details and countdown values.</a:t>
            </a:r>
          </a:p>
          <a:p>
            <a:pPr marL="742950" lvl="1" indent="-285750">
              <a:buFont typeface="Arial" panose="020B0604020202020204" pitchFamily="34" charset="0"/>
              <a:buChar char="•"/>
            </a:pPr>
            <a:r>
              <a:rPr lang="en-US" sz="1900" b="1" dirty="0">
                <a:latin typeface="Aptos Display" panose="020B0004020202020204" pitchFamily="34" charset="0"/>
              </a:rPr>
              <a:t>Action</a:t>
            </a:r>
            <a:r>
              <a:rPr lang="en-US" sz="1900" dirty="0">
                <a:latin typeface="Aptos Display" panose="020B0004020202020204" pitchFamily="34" charset="0"/>
              </a:rPr>
              <a:t>: Show this information on a user interface (UI), like a web or desktop application.</a:t>
            </a:r>
          </a:p>
          <a:p>
            <a:pPr marL="742950" lvl="1" indent="-285750">
              <a:buFont typeface="Arial" panose="020B0604020202020204" pitchFamily="34" charset="0"/>
              <a:buChar char="•"/>
            </a:pPr>
            <a:r>
              <a:rPr lang="en-US" sz="1900" b="1" dirty="0">
                <a:latin typeface="Aptos Display" panose="020B0004020202020204" pitchFamily="34" charset="0"/>
              </a:rPr>
              <a:t>Output</a:t>
            </a:r>
            <a:r>
              <a:rPr lang="en-US" sz="1900" dirty="0">
                <a:latin typeface="Aptos Display" panose="020B0004020202020204" pitchFamily="34" charset="0"/>
              </a:rPr>
              <a:t>: Display list of festivals with corresponding countdowns.</a:t>
            </a:r>
          </a:p>
          <a:p>
            <a:pPr>
              <a:buFont typeface="Arial" panose="020B0604020202020204" pitchFamily="34" charset="0"/>
              <a:buChar char="•"/>
            </a:pPr>
            <a:r>
              <a:rPr lang="en-US" sz="1900" b="1" dirty="0">
                <a:latin typeface="Aptos Display" panose="020B0004020202020204" pitchFamily="34" charset="0"/>
              </a:rPr>
              <a:t>Step 4</a:t>
            </a:r>
            <a:r>
              <a:rPr lang="en-US" sz="1900" dirty="0">
                <a:latin typeface="Aptos Display" panose="020B0004020202020204" pitchFamily="34" charset="0"/>
              </a:rPr>
              <a:t>: </a:t>
            </a:r>
            <a:r>
              <a:rPr lang="en-US" sz="1900" b="1" dirty="0">
                <a:latin typeface="Aptos Display" panose="020B0004020202020204" pitchFamily="34" charset="0"/>
              </a:rPr>
              <a:t>Train Booking Date Calculation</a:t>
            </a:r>
            <a:endParaRPr lang="en-US" sz="1900" dirty="0">
              <a:latin typeface="Aptos Display" panose="020B0004020202020204" pitchFamily="34" charset="0"/>
            </a:endParaRPr>
          </a:p>
          <a:p>
            <a:pPr marL="742950" lvl="1" indent="-285750">
              <a:buFont typeface="Arial" panose="020B0604020202020204" pitchFamily="34" charset="0"/>
              <a:buChar char="•"/>
            </a:pPr>
            <a:r>
              <a:rPr lang="en-US" sz="1900" b="1" dirty="0">
                <a:latin typeface="Aptos Display" panose="020B0004020202020204" pitchFamily="34" charset="0"/>
              </a:rPr>
              <a:t>Input</a:t>
            </a:r>
            <a:r>
              <a:rPr lang="en-US" sz="1900" dirty="0">
                <a:latin typeface="Aptos Display" panose="020B0004020202020204" pitchFamily="34" charset="0"/>
              </a:rPr>
              <a:t>: Festival date.</a:t>
            </a:r>
          </a:p>
          <a:p>
            <a:pPr marL="742950" lvl="1" indent="-285750">
              <a:buFont typeface="Arial" panose="020B0604020202020204" pitchFamily="34" charset="0"/>
              <a:buChar char="•"/>
            </a:pPr>
            <a:r>
              <a:rPr lang="en-US" sz="1900" b="1" dirty="0">
                <a:latin typeface="Aptos Display" panose="020B0004020202020204" pitchFamily="34" charset="0"/>
              </a:rPr>
              <a:t>Action</a:t>
            </a:r>
            <a:r>
              <a:rPr lang="en-US" sz="1900" dirty="0">
                <a:latin typeface="Aptos Display" panose="020B0004020202020204" pitchFamily="34" charset="0"/>
              </a:rPr>
              <a:t>: Calculate the ideal train ticket booking date based on the festival's date.</a:t>
            </a:r>
          </a:p>
          <a:p>
            <a:pPr marL="742950" lvl="1" indent="-285750">
              <a:buFont typeface="Arial" panose="020B0604020202020204" pitchFamily="34" charset="0"/>
              <a:buChar char="•"/>
            </a:pPr>
            <a:r>
              <a:rPr lang="en-US" sz="1900" b="1" dirty="0">
                <a:latin typeface="Aptos Display" panose="020B0004020202020204" pitchFamily="34" charset="0"/>
              </a:rPr>
              <a:t>Output</a:t>
            </a:r>
            <a:r>
              <a:rPr lang="en-US" sz="1900" dirty="0">
                <a:latin typeface="Aptos Display" panose="020B0004020202020204" pitchFamily="34" charset="0"/>
              </a:rPr>
              <a:t>: Display the booking date for each festival.</a:t>
            </a:r>
          </a:p>
          <a:p>
            <a:pPr>
              <a:buFont typeface="Arial" panose="020B0604020202020204" pitchFamily="34" charset="0"/>
              <a:buChar char="•"/>
            </a:pPr>
            <a:r>
              <a:rPr lang="en-US" sz="1900" b="1" dirty="0">
                <a:latin typeface="Aptos Display" panose="020B0004020202020204" pitchFamily="34" charset="0"/>
              </a:rPr>
              <a:t>Step 5</a:t>
            </a:r>
            <a:r>
              <a:rPr lang="en-US" sz="1900" dirty="0">
                <a:latin typeface="Aptos Display" panose="020B0004020202020204" pitchFamily="34" charset="0"/>
              </a:rPr>
              <a:t>: </a:t>
            </a:r>
            <a:r>
              <a:rPr lang="en-US" sz="1900" b="1" dirty="0">
                <a:latin typeface="Aptos Display" panose="020B0004020202020204" pitchFamily="34" charset="0"/>
              </a:rPr>
              <a:t>Send Notifications (Email/SMS)</a:t>
            </a:r>
            <a:endParaRPr lang="en-US" sz="1900" dirty="0">
              <a:latin typeface="Aptos Display" panose="020B0004020202020204" pitchFamily="34" charset="0"/>
            </a:endParaRPr>
          </a:p>
          <a:p>
            <a:pPr marL="742950" lvl="1" indent="-285750">
              <a:buFont typeface="Arial" panose="020B0604020202020204" pitchFamily="34" charset="0"/>
              <a:buChar char="•"/>
            </a:pPr>
            <a:r>
              <a:rPr lang="en-US" sz="1900" b="1" dirty="0">
                <a:latin typeface="Aptos Display" panose="020B0004020202020204" pitchFamily="34" charset="0"/>
              </a:rPr>
              <a:t>Input</a:t>
            </a:r>
            <a:r>
              <a:rPr lang="en-US" sz="1900" dirty="0">
                <a:latin typeface="Aptos Display" panose="020B0004020202020204" pitchFamily="34" charset="0"/>
              </a:rPr>
              <a:t>: User preferences for notification (email, SMS).</a:t>
            </a:r>
          </a:p>
          <a:p>
            <a:pPr marL="742950" lvl="1" indent="-285750">
              <a:buFont typeface="Arial" panose="020B0604020202020204" pitchFamily="34" charset="0"/>
              <a:buChar char="•"/>
            </a:pPr>
            <a:r>
              <a:rPr lang="en-US" sz="1900" b="1" dirty="0">
                <a:latin typeface="Aptos Display" panose="020B0004020202020204" pitchFamily="34" charset="0"/>
              </a:rPr>
              <a:t>Action</a:t>
            </a:r>
            <a:r>
              <a:rPr lang="en-US" sz="1900" dirty="0">
                <a:latin typeface="Aptos Display" panose="020B0004020202020204" pitchFamily="34" charset="0"/>
              </a:rPr>
              <a:t>: Trigger email or SMS notification to users about the upcoming festival and ticket booking date.</a:t>
            </a:r>
          </a:p>
          <a:p>
            <a:pPr marL="742950" lvl="1" indent="-285750">
              <a:buFont typeface="Arial" panose="020B0604020202020204" pitchFamily="34" charset="0"/>
              <a:buChar char="•"/>
            </a:pPr>
            <a:r>
              <a:rPr lang="en-US" sz="1900" b="1" dirty="0">
                <a:latin typeface="Aptos Display" panose="020B0004020202020204" pitchFamily="34" charset="0"/>
              </a:rPr>
              <a:t>Output</a:t>
            </a:r>
            <a:r>
              <a:rPr lang="en-US" sz="1900" dirty="0">
                <a:latin typeface="Aptos Display" panose="020B0004020202020204" pitchFamily="34" charset="0"/>
              </a:rPr>
              <a:t>: User notifications sent.</a:t>
            </a:r>
          </a:p>
          <a:p>
            <a:pPr>
              <a:buFont typeface="Arial" panose="020B0604020202020204" pitchFamily="34" charset="0"/>
              <a:buChar char="•"/>
            </a:pPr>
            <a:r>
              <a:rPr lang="en-US" sz="1900" b="1" dirty="0">
                <a:latin typeface="Aptos Display" panose="020B0004020202020204" pitchFamily="34" charset="0"/>
              </a:rPr>
              <a:t>Step 6</a:t>
            </a:r>
            <a:r>
              <a:rPr lang="en-US" sz="1900" dirty="0">
                <a:latin typeface="Aptos Display" panose="020B0004020202020204" pitchFamily="34" charset="0"/>
              </a:rPr>
              <a:t>: </a:t>
            </a:r>
            <a:r>
              <a:rPr lang="en-US" sz="1900" b="1" dirty="0">
                <a:latin typeface="Aptos Display" panose="020B0004020202020204" pitchFamily="34" charset="0"/>
              </a:rPr>
              <a:t>Handle Dynamic Updates</a:t>
            </a:r>
            <a:endParaRPr lang="en-US" sz="1900" dirty="0">
              <a:latin typeface="Aptos Display" panose="020B0004020202020204" pitchFamily="34" charset="0"/>
            </a:endParaRPr>
          </a:p>
          <a:p>
            <a:pPr marL="742950" lvl="1" indent="-285750">
              <a:buFont typeface="Arial" panose="020B0604020202020204" pitchFamily="34" charset="0"/>
              <a:buChar char="•"/>
            </a:pPr>
            <a:r>
              <a:rPr lang="en-US" sz="1900" b="1" dirty="0">
                <a:latin typeface="Aptos Display" panose="020B0004020202020204" pitchFamily="34" charset="0"/>
              </a:rPr>
              <a:t>Input</a:t>
            </a:r>
            <a:r>
              <a:rPr lang="en-US" sz="1900" dirty="0">
                <a:latin typeface="Aptos Display" panose="020B0004020202020204" pitchFamily="34" charset="0"/>
              </a:rPr>
              <a:t>: User interaction, new festivals, or updated information.</a:t>
            </a:r>
          </a:p>
          <a:p>
            <a:pPr marL="742950" lvl="1" indent="-285750">
              <a:buFont typeface="Arial" panose="020B0604020202020204" pitchFamily="34" charset="0"/>
              <a:buChar char="•"/>
            </a:pPr>
            <a:r>
              <a:rPr lang="en-US" sz="1900" b="1" dirty="0">
                <a:latin typeface="Aptos Display" panose="020B0004020202020204" pitchFamily="34" charset="0"/>
              </a:rPr>
              <a:t>Action</a:t>
            </a:r>
            <a:r>
              <a:rPr lang="en-US" sz="1900" dirty="0">
                <a:latin typeface="Aptos Display" panose="020B0004020202020204" pitchFamily="34" charset="0"/>
              </a:rPr>
              <a:t>: Dynamically update the festival list, countdowns, and notifications.</a:t>
            </a:r>
          </a:p>
          <a:p>
            <a:pPr marL="742950" lvl="1" indent="-285750">
              <a:buFont typeface="Arial" panose="020B0604020202020204" pitchFamily="34" charset="0"/>
              <a:buChar char="•"/>
            </a:pPr>
            <a:r>
              <a:rPr lang="en-US" sz="1900" b="1" dirty="0">
                <a:latin typeface="Aptos Display" panose="020B0004020202020204" pitchFamily="34" charset="0"/>
              </a:rPr>
              <a:t>Output</a:t>
            </a:r>
            <a:r>
              <a:rPr lang="en-US" sz="1900" dirty="0">
                <a:latin typeface="Aptos Display" panose="020B0004020202020204" pitchFamily="34" charset="0"/>
              </a:rPr>
              <a:t>: Updated festival and countdown information</a:t>
            </a:r>
            <a:r>
              <a:rPr lang="en-US" dirty="0"/>
              <a:t>.</a:t>
            </a:r>
          </a:p>
          <a:p>
            <a:endParaRPr lang="en-IN" dirty="0"/>
          </a:p>
        </p:txBody>
      </p:sp>
    </p:spTree>
    <p:extLst>
      <p:ext uri="{BB962C8B-B14F-4D97-AF65-F5344CB8AC3E}">
        <p14:creationId xmlns:p14="http://schemas.microsoft.com/office/powerpoint/2010/main" val="482425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153896D-6721-27B9-7BCD-6FCB746DAB1A}"/>
              </a:ext>
            </a:extLst>
          </p:cNvPr>
          <p:cNvSpPr>
            <a:spLocks noGrp="1"/>
          </p:cNvSpPr>
          <p:nvPr>
            <p:ph type="title"/>
          </p:nvPr>
        </p:nvSpPr>
        <p:spPr/>
        <p:txBody>
          <a:bodyPr/>
          <a:lstStyle/>
          <a:p>
            <a:r>
              <a:rPr lang="en-IN" b="1" dirty="0"/>
              <a:t>                  Process Design</a:t>
            </a:r>
          </a:p>
        </p:txBody>
      </p:sp>
      <p:sp>
        <p:nvSpPr>
          <p:cNvPr id="4" name="Rectangle 1">
            <a:extLst>
              <a:ext uri="{FF2B5EF4-FFF2-40B4-BE49-F238E27FC236}">
                <a16:creationId xmlns:a16="http://schemas.microsoft.com/office/drawing/2014/main" id="{4C8D0CE0-1E86-CB30-CF79-C395845F28F8}"/>
              </a:ext>
            </a:extLst>
          </p:cNvPr>
          <p:cNvSpPr>
            <a:spLocks noGrp="1" noChangeArrowheads="1"/>
          </p:cNvSpPr>
          <p:nvPr>
            <p:ph idx="1"/>
          </p:nvPr>
        </p:nvSpPr>
        <p:spPr bwMode="auto">
          <a:xfrm>
            <a:off x="190500" y="1118443"/>
            <a:ext cx="87630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rPr>
              <a:t>2. Sub-processes Design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ptos Display" panose="020B0004020202020204" pitchFamily="34" charset="0"/>
              </a:rPr>
              <a:t>Sub-processes are smaller tasks or steps that support the main process. These could be part of a larger automation process.</a:t>
            </a:r>
            <a:endParaRPr lang="en-US" altLang="en-US" sz="1800" b="1" dirty="0">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Sub-process 1: Load Festival Data</a:t>
            </a:r>
            <a:endParaRPr kumimoji="0" lang="en-US" altLang="en-US" sz="18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Input</a:t>
            </a:r>
            <a:r>
              <a:rPr kumimoji="0" lang="en-US" altLang="en-US" sz="1800" b="0" i="0" u="none" strike="noStrike" cap="none" normalizeH="0" baseline="0" dirty="0">
                <a:ln>
                  <a:noFill/>
                </a:ln>
                <a:solidFill>
                  <a:schemeClr val="tx1"/>
                </a:solidFill>
                <a:effectLst/>
                <a:latin typeface="Aptos Display" panose="020B0004020202020204" pitchFamily="34" charset="0"/>
              </a:rPr>
              <a:t>: Excel file or API for festival data.</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Action</a:t>
            </a:r>
            <a:r>
              <a:rPr kumimoji="0" lang="en-US" altLang="en-US" sz="1800" b="0"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latin typeface="Aptos Display" panose="020B0004020202020204" pitchFamily="34" charset="0"/>
              </a:rPr>
              <a:t> Extract festival details from the data source (e.g., festival names, dates).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Output</a:t>
            </a:r>
            <a:r>
              <a:rPr kumimoji="0" lang="en-US" altLang="en-US" sz="1800" b="0" i="0" u="none" strike="noStrike" cap="none" normalizeH="0" baseline="0" dirty="0">
                <a:ln>
                  <a:noFill/>
                </a:ln>
                <a:solidFill>
                  <a:schemeClr val="tx1"/>
                </a:solidFill>
                <a:effectLst/>
                <a:latin typeface="Aptos Display" panose="020B0004020202020204" pitchFamily="34" charset="0"/>
              </a:rPr>
              <a:t>: A structured list or table with festival data</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Sub-process 2: Calculate Countdown for Festival</a:t>
            </a:r>
            <a:endParaRPr kumimoji="0" lang="en-US" altLang="en-US" sz="18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Input</a:t>
            </a:r>
            <a:r>
              <a:rPr kumimoji="0" lang="en-US" altLang="en-US" sz="1800" b="0" i="0" u="none" strike="noStrike" cap="none" normalizeH="0" baseline="0" dirty="0">
                <a:ln>
                  <a:noFill/>
                </a:ln>
                <a:solidFill>
                  <a:schemeClr val="tx1"/>
                </a:solidFill>
                <a:effectLst/>
                <a:latin typeface="Aptos Display" panose="020B0004020202020204" pitchFamily="34" charset="0"/>
              </a:rPr>
              <a:t>: Current date, festival date.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Action</a:t>
            </a:r>
            <a:r>
              <a:rPr kumimoji="0" lang="en-US" altLang="en-US" sz="1800" b="0" i="0" u="none" strike="noStrike" cap="none" normalizeH="0" baseline="0" dirty="0">
                <a:ln>
                  <a:noFill/>
                </a:ln>
                <a:solidFill>
                  <a:schemeClr val="tx1"/>
                </a:solidFill>
                <a:effectLst/>
                <a:latin typeface="Aptos Display" panose="020B0004020202020204" pitchFamily="34" charset="0"/>
              </a:rPr>
              <a:t>: Use date calculation logic (e.g., days = </a:t>
            </a:r>
            <a:r>
              <a:rPr kumimoji="0" lang="en-US" altLang="en-US" sz="1800" b="0" i="0" u="none" strike="noStrike" cap="none" normalizeH="0" baseline="0" dirty="0" err="1">
                <a:ln>
                  <a:noFill/>
                </a:ln>
                <a:solidFill>
                  <a:schemeClr val="tx1"/>
                </a:solidFill>
                <a:effectLst/>
                <a:latin typeface="Aptos Display" panose="020B0004020202020204" pitchFamily="34" charset="0"/>
              </a:rPr>
              <a:t>festival_date</a:t>
            </a:r>
            <a:r>
              <a:rPr kumimoji="0" lang="en-US" altLang="en-US" sz="1800" b="0" i="0" u="none" strike="noStrike" cap="none" normalizeH="0" baseline="0" dirty="0">
                <a:ln>
                  <a:noFill/>
                </a:ln>
                <a:solidFill>
                  <a:schemeClr val="tx1"/>
                </a:solidFill>
                <a:effectLst/>
                <a:latin typeface="Aptos Display" panose="020B0004020202020204" pitchFamily="34" charset="0"/>
              </a:rPr>
              <a:t> - </a:t>
            </a:r>
            <a:r>
              <a:rPr kumimoji="0" lang="en-US" altLang="en-US" sz="1800" b="0" i="0" u="none" strike="noStrike" cap="none" normalizeH="0" baseline="0" dirty="0" err="1">
                <a:ln>
                  <a:noFill/>
                </a:ln>
                <a:solidFill>
                  <a:schemeClr val="tx1"/>
                </a:solidFill>
                <a:effectLst/>
                <a:latin typeface="Aptos Display" panose="020B0004020202020204" pitchFamily="34" charset="0"/>
              </a:rPr>
              <a:t>current_date</a:t>
            </a:r>
            <a:r>
              <a:rPr kumimoji="0" lang="en-US" altLang="en-US" sz="1800" b="0" i="0" u="none" strike="noStrike" cap="none" normalizeH="0" baseline="0" dirty="0">
                <a:ln>
                  <a:noFill/>
                </a:ln>
                <a:solidFill>
                  <a:schemeClr val="tx1"/>
                </a:solidFill>
                <a:effectLst/>
                <a:latin typeface="Aptos Display" panose="020B00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Output</a:t>
            </a:r>
            <a:r>
              <a:rPr kumimoji="0" lang="en-US" altLang="en-US" sz="1800" b="0" i="0" u="none" strike="noStrike" cap="none" normalizeH="0" baseline="0" dirty="0">
                <a:ln>
                  <a:noFill/>
                </a:ln>
                <a:solidFill>
                  <a:schemeClr val="tx1"/>
                </a:solidFill>
                <a:effectLst/>
                <a:latin typeface="Aptos Display" panose="020B0004020202020204" pitchFamily="34" charset="0"/>
              </a:rPr>
              <a:t>: Number of days remaining for each festival.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Sub-process 3: Calculate Train Ticket Booking Date</a:t>
            </a:r>
            <a:endParaRPr kumimoji="0" lang="en-US" altLang="en-US" sz="18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Input</a:t>
            </a:r>
            <a:r>
              <a:rPr kumimoji="0" lang="en-US" altLang="en-US" sz="1800" b="0" i="0" u="none" strike="noStrike" cap="none" normalizeH="0" baseline="0" dirty="0">
                <a:ln>
                  <a:noFill/>
                </a:ln>
                <a:solidFill>
                  <a:schemeClr val="tx1"/>
                </a:solidFill>
                <a:effectLst/>
                <a:latin typeface="Aptos Display" panose="020B0004020202020204" pitchFamily="34" charset="0"/>
              </a:rPr>
              <a:t>: Festival date.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Action</a:t>
            </a:r>
            <a:r>
              <a:rPr kumimoji="0" lang="en-US" altLang="en-US" sz="1800" b="0" i="0" u="none" strike="noStrike" cap="none" normalizeH="0" baseline="0" dirty="0">
                <a:ln>
                  <a:noFill/>
                </a:ln>
                <a:solidFill>
                  <a:schemeClr val="tx1"/>
                </a:solidFill>
                <a:effectLst/>
                <a:latin typeface="Aptos Display" panose="020B0004020202020204" pitchFamily="34" charset="0"/>
              </a:rPr>
              <a:t>: Calculate optimal booking window (e.g., 30 days before the festival).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Output</a:t>
            </a:r>
            <a:r>
              <a:rPr kumimoji="0" lang="en-US" altLang="en-US" sz="1800" b="0" i="0" u="none" strike="noStrike" cap="none" normalizeH="0" baseline="0" dirty="0">
                <a:ln>
                  <a:noFill/>
                </a:ln>
                <a:solidFill>
                  <a:schemeClr val="tx1"/>
                </a:solidFill>
                <a:effectLst/>
                <a:latin typeface="Aptos Display" panose="020B0004020202020204" pitchFamily="34" charset="0"/>
              </a:rPr>
              <a:t>: Suggested train booking </a:t>
            </a:r>
            <a:r>
              <a:rPr kumimoji="0" lang="en-US" altLang="en-US" sz="1800" b="0" i="0" u="none" strike="noStrike" cap="none" normalizeH="0" baseline="0" dirty="0" err="1">
                <a:ln>
                  <a:noFill/>
                </a:ln>
                <a:solidFill>
                  <a:schemeClr val="tx1"/>
                </a:solidFill>
                <a:effectLst/>
                <a:latin typeface="Aptos Display" panose="020B0004020202020204" pitchFamily="34" charset="0"/>
              </a:rPr>
              <a:t>dat</a:t>
            </a:r>
            <a:endParaRPr kumimoji="0" lang="en-US" altLang="en-US" sz="1800" b="0" i="0" u="none" strike="noStrike" cap="none" normalizeH="0" baseline="0" dirty="0">
              <a:ln>
                <a:noFill/>
              </a:ln>
              <a:solidFill>
                <a:schemeClr val="tx1"/>
              </a:solidFill>
              <a:effectLst/>
              <a:latin typeface="Aptos Display"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0218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3D287E-1520-1F94-7F2D-8E0E207078E0}"/>
              </a:ext>
            </a:extLst>
          </p:cNvPr>
          <p:cNvSpPr>
            <a:spLocks noGrp="1"/>
          </p:cNvSpPr>
          <p:nvPr>
            <p:ph idx="1"/>
          </p:nvPr>
        </p:nvSpPr>
        <p:spPr>
          <a:xfrm>
            <a:off x="190500" y="692696"/>
            <a:ext cx="8763000" cy="5631904"/>
          </a:xfrm>
        </p:spPr>
        <p:txBody>
          <a:bodyPr>
            <a:normAutofit/>
          </a:bodyPr>
          <a:lstStyle/>
          <a:p>
            <a:pPr>
              <a:buFont typeface="Arial" panose="020B0604020202020204" pitchFamily="34" charset="0"/>
              <a:buChar char="•"/>
            </a:pPr>
            <a:r>
              <a:rPr lang="en-US" sz="1900" b="1" dirty="0"/>
              <a:t>Sub-process 4: Send Notifications</a:t>
            </a:r>
            <a:endParaRPr lang="en-US" sz="1900" dirty="0"/>
          </a:p>
          <a:p>
            <a:pPr marL="742950" lvl="1" indent="-285750">
              <a:buFont typeface="Arial" panose="020B0604020202020204" pitchFamily="34" charset="0"/>
              <a:buChar char="•"/>
            </a:pPr>
            <a:r>
              <a:rPr lang="en-US" sz="1900" b="1" dirty="0"/>
              <a:t>Input</a:t>
            </a:r>
            <a:r>
              <a:rPr lang="en-US" sz="1900" dirty="0"/>
              <a:t>: </a:t>
            </a:r>
            <a:r>
              <a:rPr lang="en-US" sz="1800" dirty="0">
                <a:latin typeface="Aptos Display" panose="020B0004020202020204" pitchFamily="34" charset="0"/>
              </a:rPr>
              <a:t>User information (email/SMS).</a:t>
            </a:r>
          </a:p>
          <a:p>
            <a:pPr marL="742950" lvl="1" indent="-285750">
              <a:buFont typeface="Arial" panose="020B0604020202020204" pitchFamily="34" charset="0"/>
              <a:buChar char="•"/>
            </a:pPr>
            <a:r>
              <a:rPr lang="en-US" sz="1800" b="1" dirty="0">
                <a:latin typeface="Aptos Display" panose="020B0004020202020204" pitchFamily="34" charset="0"/>
              </a:rPr>
              <a:t>Action</a:t>
            </a:r>
            <a:r>
              <a:rPr lang="en-US" sz="1800" dirty="0">
                <a:latin typeface="Aptos Display" panose="020B0004020202020204" pitchFamily="34" charset="0"/>
              </a:rPr>
              <a:t>: Trigger email/SMS using services (e.g., SMTP for email, Twilio for SMS).</a:t>
            </a:r>
          </a:p>
          <a:p>
            <a:pPr marL="742950" lvl="1" indent="-285750">
              <a:buFont typeface="Arial" panose="020B0604020202020204" pitchFamily="34" charset="0"/>
              <a:buChar char="•"/>
            </a:pPr>
            <a:r>
              <a:rPr lang="en-US" sz="1800" b="1" dirty="0">
                <a:latin typeface="Aptos Display" panose="020B0004020202020204" pitchFamily="34" charset="0"/>
              </a:rPr>
              <a:t>Output</a:t>
            </a:r>
            <a:r>
              <a:rPr lang="en-US" sz="1800" dirty="0">
                <a:latin typeface="Aptos Display" panose="020B0004020202020204" pitchFamily="34" charset="0"/>
              </a:rPr>
              <a:t>: Confirmation of successful notification</a:t>
            </a:r>
            <a:r>
              <a:rPr lang="en-US" sz="1900" dirty="0"/>
              <a:t>.</a:t>
            </a:r>
          </a:p>
          <a:p>
            <a:r>
              <a:rPr lang="en-US" sz="1900" b="1" dirty="0"/>
              <a:t>Process Flow Example:</a:t>
            </a:r>
          </a:p>
          <a:p>
            <a:pPr>
              <a:buFont typeface="+mj-lt"/>
              <a:buAutoNum type="arabicPeriod"/>
            </a:pPr>
            <a:r>
              <a:rPr lang="en-US" sz="1800" b="1" dirty="0">
                <a:latin typeface="Aptos Display" panose="020B0004020202020204" pitchFamily="34" charset="0"/>
              </a:rPr>
              <a:t>Main Process</a:t>
            </a:r>
            <a:r>
              <a:rPr lang="en-US" sz="1800" dirty="0">
                <a:latin typeface="Aptos Display" panose="020B0004020202020204" pitchFamily="34" charset="0"/>
              </a:rPr>
              <a:t> </a:t>
            </a:r>
            <a:r>
              <a:rPr lang="en-US" sz="1900" dirty="0">
                <a:latin typeface="Aptos Display" panose="020B0004020202020204" pitchFamily="34" charset="0"/>
              </a:rPr>
              <a:t>starts with initializing data.</a:t>
            </a:r>
          </a:p>
          <a:p>
            <a:pPr>
              <a:buFont typeface="+mj-lt"/>
              <a:buAutoNum type="arabicPeriod"/>
            </a:pPr>
            <a:r>
              <a:rPr lang="en-US" sz="1900" b="1" dirty="0"/>
              <a:t>Sub-process</a:t>
            </a:r>
            <a:r>
              <a:rPr lang="en-US" sz="1900" dirty="0">
                <a:latin typeface="Aptos Display" panose="020B0004020202020204" pitchFamily="34" charset="0"/>
              </a:rPr>
              <a:t> 1 is triggered to load the festival data.</a:t>
            </a:r>
          </a:p>
          <a:p>
            <a:pPr>
              <a:buFont typeface="+mj-lt"/>
              <a:buAutoNum type="arabicPeriod"/>
            </a:pPr>
            <a:r>
              <a:rPr lang="en-US" sz="1900" b="1" dirty="0"/>
              <a:t>Sub-process</a:t>
            </a:r>
            <a:r>
              <a:rPr lang="en-US" sz="1900" dirty="0">
                <a:latin typeface="Aptos Display" panose="020B0004020202020204" pitchFamily="34" charset="0"/>
              </a:rPr>
              <a:t> 2 calculates the countdown for each festival.</a:t>
            </a:r>
          </a:p>
          <a:p>
            <a:pPr>
              <a:buFont typeface="+mj-lt"/>
              <a:buAutoNum type="arabicPeriod"/>
            </a:pPr>
            <a:r>
              <a:rPr lang="en-US" sz="1900" b="1" dirty="0"/>
              <a:t>Main</a:t>
            </a:r>
            <a:r>
              <a:rPr lang="en-US" sz="1900" dirty="0">
                <a:latin typeface="Aptos Display" panose="020B0004020202020204" pitchFamily="34" charset="0"/>
              </a:rPr>
              <a:t> </a:t>
            </a:r>
            <a:r>
              <a:rPr lang="en-US" sz="1900" b="1" dirty="0"/>
              <a:t>process</a:t>
            </a:r>
            <a:r>
              <a:rPr lang="en-US" sz="1900" dirty="0">
                <a:latin typeface="Aptos Display" panose="020B0004020202020204" pitchFamily="34" charset="0"/>
              </a:rPr>
              <a:t> continues to calculate the train booking date using Sub-process 3.</a:t>
            </a:r>
          </a:p>
          <a:p>
            <a:pPr>
              <a:buFont typeface="+mj-lt"/>
              <a:buAutoNum type="arabicPeriod"/>
            </a:pPr>
            <a:r>
              <a:rPr lang="en-US" sz="1900" b="1" dirty="0"/>
              <a:t>Sub-process</a:t>
            </a:r>
            <a:r>
              <a:rPr lang="en-US" sz="1900" dirty="0">
                <a:latin typeface="Aptos Display" panose="020B0004020202020204" pitchFamily="34" charset="0"/>
              </a:rPr>
              <a:t> 4 sends notifications to the users.</a:t>
            </a:r>
          </a:p>
          <a:p>
            <a:pPr>
              <a:buFont typeface="+mj-lt"/>
              <a:buAutoNum type="arabicPeriod"/>
            </a:pPr>
            <a:r>
              <a:rPr lang="en-US" sz="1900" b="1" dirty="0"/>
              <a:t>Main process </a:t>
            </a:r>
            <a:r>
              <a:rPr lang="en-US" sz="1900" dirty="0">
                <a:latin typeface="Aptos Display" panose="020B0004020202020204" pitchFamily="34" charset="0"/>
              </a:rPr>
              <a:t>handles dynamic updates as necessary</a:t>
            </a:r>
            <a:r>
              <a:rPr lang="en-US" dirty="0"/>
              <a:t>.</a:t>
            </a:r>
          </a:p>
          <a:p>
            <a:endParaRPr lang="en-IN" dirty="0"/>
          </a:p>
        </p:txBody>
      </p:sp>
    </p:spTree>
    <p:extLst>
      <p:ext uri="{BB962C8B-B14F-4D97-AF65-F5344CB8AC3E}">
        <p14:creationId xmlns:p14="http://schemas.microsoft.com/office/powerpoint/2010/main" val="328103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                 Implementation</a:t>
            </a:r>
            <a:endParaRPr lang="en-IN" b="1" dirty="0">
              <a:latin typeface="+mj-lt"/>
            </a:endParaRPr>
          </a:p>
        </p:txBody>
      </p:sp>
      <p:sp>
        <p:nvSpPr>
          <p:cNvPr id="3" name="Content Placeholder 2"/>
          <p:cNvSpPr>
            <a:spLocks noGrp="1"/>
          </p:cNvSpPr>
          <p:nvPr>
            <p:ph idx="1"/>
          </p:nvPr>
        </p:nvSpPr>
        <p:spPr/>
        <p:txBody>
          <a:bodyPr/>
          <a:lstStyle/>
          <a:p>
            <a:pPr marL="0" indent="0">
              <a:buNone/>
            </a:pPr>
            <a:endParaRPr lang="en-US" dirty="0"/>
          </a:p>
          <a:p>
            <a:endParaRPr lang="en-US" dirty="0"/>
          </a:p>
        </p:txBody>
      </p:sp>
      <p:pic>
        <p:nvPicPr>
          <p:cNvPr id="5" name="Picture 4">
            <a:extLst>
              <a:ext uri="{FF2B5EF4-FFF2-40B4-BE49-F238E27FC236}">
                <a16:creationId xmlns:a16="http://schemas.microsoft.com/office/drawing/2014/main" id="{A6DE7B14-926E-BBA1-9B22-EA773EA2E978}"/>
              </a:ext>
            </a:extLst>
          </p:cNvPr>
          <p:cNvPicPr>
            <a:picLocks noChangeAspect="1"/>
          </p:cNvPicPr>
          <p:nvPr/>
        </p:nvPicPr>
        <p:blipFill>
          <a:blip r:embed="rId4"/>
          <a:stretch>
            <a:fillRect/>
          </a:stretch>
        </p:blipFill>
        <p:spPr>
          <a:xfrm>
            <a:off x="863588" y="990600"/>
            <a:ext cx="7865482" cy="5284716"/>
          </a:xfrm>
          <a:prstGeom prst="rect">
            <a:avLst/>
          </a:prstGeom>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FE499-8EE1-B8A6-14EA-493962D654C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30666C6-E5B1-191B-221A-FE7266F0F8A7}"/>
              </a:ext>
            </a:extLst>
          </p:cNvPr>
          <p:cNvPicPr>
            <a:picLocks noGrp="1" noChangeAspect="1"/>
          </p:cNvPicPr>
          <p:nvPr>
            <p:ph idx="1"/>
          </p:nvPr>
        </p:nvPicPr>
        <p:blipFill>
          <a:blip r:embed="rId2"/>
          <a:stretch>
            <a:fillRect/>
          </a:stretch>
        </p:blipFill>
        <p:spPr>
          <a:xfrm>
            <a:off x="899592" y="1124744"/>
            <a:ext cx="7308812" cy="5199856"/>
          </a:xfrm>
        </p:spPr>
      </p:pic>
    </p:spTree>
    <p:extLst>
      <p:ext uri="{BB962C8B-B14F-4D97-AF65-F5344CB8AC3E}">
        <p14:creationId xmlns:p14="http://schemas.microsoft.com/office/powerpoint/2010/main" val="1749090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385A7-26FE-B440-841B-D28128A5C54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A8A5990-596C-50B7-8373-DCAA4CE84027}"/>
              </a:ext>
            </a:extLst>
          </p:cNvPr>
          <p:cNvPicPr>
            <a:picLocks noGrp="1" noChangeAspect="1"/>
          </p:cNvPicPr>
          <p:nvPr>
            <p:ph idx="1"/>
          </p:nvPr>
        </p:nvPicPr>
        <p:blipFill>
          <a:blip r:embed="rId2"/>
          <a:stretch>
            <a:fillRect/>
          </a:stretch>
        </p:blipFill>
        <p:spPr>
          <a:xfrm>
            <a:off x="874889" y="990600"/>
            <a:ext cx="7297511" cy="5210708"/>
          </a:xfrm>
        </p:spPr>
      </p:pic>
    </p:spTree>
    <p:extLst>
      <p:ext uri="{BB962C8B-B14F-4D97-AF65-F5344CB8AC3E}">
        <p14:creationId xmlns:p14="http://schemas.microsoft.com/office/powerpoint/2010/main" val="2756969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F5B3D-164A-86B1-7DDD-2592D666A04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1929F27-0AC1-17A4-DC95-7525CF54AB28}"/>
              </a:ext>
            </a:extLst>
          </p:cNvPr>
          <p:cNvPicPr>
            <a:picLocks noGrp="1" noChangeAspect="1"/>
          </p:cNvPicPr>
          <p:nvPr>
            <p:ph idx="1"/>
          </p:nvPr>
        </p:nvPicPr>
        <p:blipFill>
          <a:blip r:embed="rId2"/>
          <a:stretch>
            <a:fillRect/>
          </a:stretch>
        </p:blipFill>
        <p:spPr>
          <a:xfrm>
            <a:off x="827584" y="1160748"/>
            <a:ext cx="7494025" cy="5004556"/>
          </a:xfrm>
        </p:spPr>
      </p:pic>
    </p:spTree>
    <p:extLst>
      <p:ext uri="{BB962C8B-B14F-4D97-AF65-F5344CB8AC3E}">
        <p14:creationId xmlns:p14="http://schemas.microsoft.com/office/powerpoint/2010/main" val="3589279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85636-9334-170C-A145-BBE9E5CFCDA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48463BA-4833-F9CB-C74C-BB84947A0021}"/>
              </a:ext>
            </a:extLst>
          </p:cNvPr>
          <p:cNvPicPr>
            <a:picLocks noGrp="1" noChangeAspect="1"/>
          </p:cNvPicPr>
          <p:nvPr>
            <p:ph idx="1"/>
          </p:nvPr>
        </p:nvPicPr>
        <p:blipFill>
          <a:blip r:embed="rId2"/>
          <a:stretch>
            <a:fillRect/>
          </a:stretch>
        </p:blipFill>
        <p:spPr>
          <a:xfrm>
            <a:off x="503548" y="1542866"/>
            <a:ext cx="8100900" cy="4229467"/>
          </a:xfrm>
        </p:spPr>
      </p:pic>
    </p:spTree>
    <p:extLst>
      <p:ext uri="{BB962C8B-B14F-4D97-AF65-F5344CB8AC3E}">
        <p14:creationId xmlns:p14="http://schemas.microsoft.com/office/powerpoint/2010/main" val="33237260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t>
            </a:r>
            <a:r>
              <a:rPr lang="en-US" b="1" dirty="0"/>
              <a:t>Testing</a:t>
            </a:r>
            <a:endParaRPr lang="en-IN" b="1" dirty="0">
              <a:latin typeface="+mj-lt"/>
            </a:endParaRPr>
          </a:p>
        </p:txBody>
      </p:sp>
      <p:pic>
        <p:nvPicPr>
          <p:cNvPr id="5" name="Content Placeholder 4">
            <a:extLst>
              <a:ext uri="{FF2B5EF4-FFF2-40B4-BE49-F238E27FC236}">
                <a16:creationId xmlns:a16="http://schemas.microsoft.com/office/drawing/2014/main" id="{0CCE9454-C0F2-BCD5-CC20-91B675BF09A3}"/>
              </a:ext>
            </a:extLst>
          </p:cNvPr>
          <p:cNvPicPr>
            <a:picLocks noGrp="1" noChangeAspect="1"/>
          </p:cNvPicPr>
          <p:nvPr>
            <p:ph idx="1"/>
          </p:nvPr>
        </p:nvPicPr>
        <p:blipFill>
          <a:blip r:embed="rId4"/>
          <a:stretch>
            <a:fillRect/>
          </a:stretch>
        </p:blipFill>
        <p:spPr>
          <a:xfrm>
            <a:off x="2879812" y="1232756"/>
            <a:ext cx="3147333" cy="1653683"/>
          </a:xfrm>
        </p:spPr>
      </p:pic>
      <p:pic>
        <p:nvPicPr>
          <p:cNvPr id="7" name="Picture 6">
            <a:extLst>
              <a:ext uri="{FF2B5EF4-FFF2-40B4-BE49-F238E27FC236}">
                <a16:creationId xmlns:a16="http://schemas.microsoft.com/office/drawing/2014/main" id="{C10CCFAF-F922-C7AB-A925-67948DEE3542}"/>
              </a:ext>
            </a:extLst>
          </p:cNvPr>
          <p:cNvPicPr>
            <a:picLocks noChangeAspect="1"/>
          </p:cNvPicPr>
          <p:nvPr/>
        </p:nvPicPr>
        <p:blipFill>
          <a:blip r:embed="rId5"/>
          <a:stretch>
            <a:fillRect/>
          </a:stretch>
        </p:blipFill>
        <p:spPr>
          <a:xfrm>
            <a:off x="2879812" y="3429000"/>
            <a:ext cx="3276884" cy="1954136"/>
          </a:xfrm>
          <a:prstGeom prst="rect">
            <a:avLst/>
          </a:prstGeom>
        </p:spPr>
      </p:pic>
    </p:spTree>
    <p:custDataLst>
      <p:tags r:id="rId1"/>
    </p:custDataLst>
    <p:extLst>
      <p:ext uri="{BB962C8B-B14F-4D97-AF65-F5344CB8AC3E}">
        <p14:creationId xmlns:p14="http://schemas.microsoft.com/office/powerpoint/2010/main" val="1921327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1C25C-EFF4-DE1E-CA49-5DAB065E9FE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01BC713-A12D-69C6-47D9-DA56CB79ECB2}"/>
              </a:ext>
            </a:extLst>
          </p:cNvPr>
          <p:cNvSpPr>
            <a:spLocks noGrp="1"/>
          </p:cNvSpPr>
          <p:nvPr>
            <p:ph idx="1"/>
          </p:nvPr>
        </p:nvSpPr>
        <p:spPr/>
        <p:txBody>
          <a:bodyPr/>
          <a:lstStyle/>
          <a:p>
            <a:r>
              <a:rPr lang="en-IN" dirty="0"/>
              <a:t>                         </a:t>
            </a:r>
          </a:p>
        </p:txBody>
      </p:sp>
      <p:pic>
        <p:nvPicPr>
          <p:cNvPr id="5" name="Picture 4">
            <a:extLst>
              <a:ext uri="{FF2B5EF4-FFF2-40B4-BE49-F238E27FC236}">
                <a16:creationId xmlns:a16="http://schemas.microsoft.com/office/drawing/2014/main" id="{D5DDA748-615B-12AF-763D-7DD6B33529F6}"/>
              </a:ext>
            </a:extLst>
          </p:cNvPr>
          <p:cNvPicPr>
            <a:picLocks noChangeAspect="1"/>
          </p:cNvPicPr>
          <p:nvPr/>
        </p:nvPicPr>
        <p:blipFill>
          <a:blip r:embed="rId2"/>
          <a:stretch>
            <a:fillRect/>
          </a:stretch>
        </p:blipFill>
        <p:spPr>
          <a:xfrm>
            <a:off x="2843808" y="1268760"/>
            <a:ext cx="3276884" cy="1882303"/>
          </a:xfrm>
          <a:prstGeom prst="rect">
            <a:avLst/>
          </a:prstGeom>
        </p:spPr>
      </p:pic>
      <p:pic>
        <p:nvPicPr>
          <p:cNvPr id="7" name="Picture 6">
            <a:extLst>
              <a:ext uri="{FF2B5EF4-FFF2-40B4-BE49-F238E27FC236}">
                <a16:creationId xmlns:a16="http://schemas.microsoft.com/office/drawing/2014/main" id="{D5453D9D-F815-27FA-9451-C870EA730B28}"/>
              </a:ext>
            </a:extLst>
          </p:cNvPr>
          <p:cNvPicPr>
            <a:picLocks noChangeAspect="1"/>
          </p:cNvPicPr>
          <p:nvPr/>
        </p:nvPicPr>
        <p:blipFill>
          <a:blip r:embed="rId3"/>
          <a:stretch>
            <a:fillRect/>
          </a:stretch>
        </p:blipFill>
        <p:spPr>
          <a:xfrm>
            <a:off x="3474625" y="3713794"/>
            <a:ext cx="2194750" cy="1958510"/>
          </a:xfrm>
          <a:prstGeom prst="rect">
            <a:avLst/>
          </a:prstGeom>
        </p:spPr>
      </p:pic>
    </p:spTree>
    <p:extLst>
      <p:ext uri="{BB962C8B-B14F-4D97-AF65-F5344CB8AC3E}">
        <p14:creationId xmlns:p14="http://schemas.microsoft.com/office/powerpoint/2010/main" val="1695353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                     Conclusions</a:t>
            </a:r>
            <a:endParaRPr lang="en-IN" b="1" dirty="0">
              <a:latin typeface="+mj-lt"/>
            </a:endParaRPr>
          </a:p>
        </p:txBody>
      </p:sp>
      <p:sp>
        <p:nvSpPr>
          <p:cNvPr id="3" name="Content Placeholder 2"/>
          <p:cNvSpPr>
            <a:spLocks noGrp="1"/>
          </p:cNvSpPr>
          <p:nvPr>
            <p:ph idx="1"/>
          </p:nvPr>
        </p:nvSpPr>
        <p:spPr/>
        <p:txBody>
          <a:bodyPr/>
          <a:lstStyle/>
          <a:p>
            <a:endParaRPr lang="en-US" dirty="0"/>
          </a:p>
          <a:p>
            <a:r>
              <a:rPr lang="en-US" sz="2000" dirty="0">
                <a:latin typeface="Aptos Display" panose="020B0004020202020204" pitchFamily="34" charset="0"/>
              </a:rPr>
              <a:t>The </a:t>
            </a:r>
            <a:r>
              <a:rPr lang="en-US" sz="2000" b="1" dirty="0">
                <a:latin typeface="Aptos Display" panose="020B0004020202020204" pitchFamily="34" charset="0"/>
              </a:rPr>
              <a:t>Automated Festival Countdown and Train Booking Reminder System</a:t>
            </a:r>
            <a:r>
              <a:rPr lang="en-US" sz="2000" dirty="0">
                <a:latin typeface="Aptos Display" panose="020B0004020202020204" pitchFamily="34" charset="0"/>
              </a:rPr>
              <a:t> brings convenience and joy to users by effortlessly managing festival dates and travel bookings. With its intuitive design, real-time notifications, and seamless integration of festival countdowns and train schedules, the system ensures users never miss an important moment. By offering personalized reminders via email and SMS, this smart solution transforms how people plan and prepare for festivals and journeys. Powered by UiPath’s automation, the system is not only efficient but also elegant, providing a delightful and stress-free experience for users seeking to stay organized and ahead of the curve</a:t>
            </a:r>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            Future Enhancement</a:t>
            </a:r>
            <a:endParaRPr lang="en-IN" b="1" dirty="0">
              <a:latin typeface="+mj-lt"/>
            </a:endParaRPr>
          </a:p>
        </p:txBody>
      </p:sp>
      <p:sp>
        <p:nvSpPr>
          <p:cNvPr id="3" name="Content Placeholder 2"/>
          <p:cNvSpPr>
            <a:spLocks noGrp="1"/>
          </p:cNvSpPr>
          <p:nvPr>
            <p:ph idx="1"/>
          </p:nvPr>
        </p:nvSpPr>
        <p:spPr/>
        <p:txBody>
          <a:bodyPr>
            <a:normAutofit/>
          </a:bodyPr>
          <a:lstStyle/>
          <a:p>
            <a:r>
              <a:rPr lang="en-US" sz="2000" b="1" dirty="0"/>
              <a:t>Description 1</a:t>
            </a:r>
          </a:p>
          <a:p>
            <a:r>
              <a:rPr lang="en-US" sz="1600" dirty="0">
                <a:latin typeface="Aptos Display" panose="020B0004020202020204" pitchFamily="34" charset="0"/>
              </a:rPr>
              <a:t>In the future, the </a:t>
            </a:r>
            <a:r>
              <a:rPr lang="en-US" sz="1600" b="1" dirty="0">
                <a:latin typeface="Aptos Display" panose="020B0004020202020204" pitchFamily="34" charset="0"/>
              </a:rPr>
              <a:t>Automated Festival Countdown and Train Booking Reminder System</a:t>
            </a:r>
            <a:r>
              <a:rPr lang="en-US" sz="1600" dirty="0">
                <a:latin typeface="Aptos Display" panose="020B0004020202020204" pitchFamily="34" charset="0"/>
              </a:rPr>
              <a:t> can be enhanced by integrating advanced AI and machine learning algorithms to provide personalized travel recommendations based on user preferences and past behavior. The system could also incorporate predictive analytics to suggest optimal travel times and routes during peak festival seasons, helping users avoid overcrowded trains and book tickets in advance. Additionally, incorporating voice-based assistants (like Google Assistant or Alexa) would allow users to receive reminders and updates through simple voice commands, making the system even more accessible and user-friendly.</a:t>
            </a:r>
          </a:p>
          <a:p>
            <a:r>
              <a:rPr lang="en-US" sz="2000" b="1" dirty="0"/>
              <a:t>Description 2</a:t>
            </a:r>
          </a:p>
          <a:p>
            <a:r>
              <a:rPr lang="en-US" sz="1700" dirty="0">
                <a:latin typeface="Aptos Display" panose="020B0004020202020204" pitchFamily="34" charset="0"/>
              </a:rPr>
              <a:t>Another exciting enhancement would be the integration of </a:t>
            </a:r>
            <a:r>
              <a:rPr lang="en-US" sz="1700" b="1" dirty="0">
                <a:latin typeface="Aptos Display" panose="020B0004020202020204" pitchFamily="34" charset="0"/>
              </a:rPr>
              <a:t>smart weather forecasting</a:t>
            </a:r>
            <a:r>
              <a:rPr lang="en-US" sz="1700" dirty="0">
                <a:latin typeface="Aptos Display" panose="020B0004020202020204" pitchFamily="34" charset="0"/>
              </a:rPr>
              <a:t> to provide real-time weather updates for upcoming festivals, particularly for outdoor events. This feature could help users plan better by suggesting the right clothing or equipment. Furthermore, expanding the system’s capabilities to include multi-platform support—such as mobile apps for both Android and iOS—would allow users to stay connected and receive notifications on the go. With further integration of social media platforms, users could share festival plans or train bookings with friends, making the system a one-stop solution for festival and travel planning.</a:t>
            </a:r>
          </a:p>
          <a:p>
            <a:endParaRPr lang="en-US" dirty="0"/>
          </a:p>
          <a:p>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t>
            </a:r>
            <a:r>
              <a:rPr lang="en-US" b="1" dirty="0"/>
              <a:t>IEEE Paper</a:t>
            </a:r>
            <a:endParaRPr lang="en-IN" b="1" dirty="0">
              <a:latin typeface="+mj-lt"/>
            </a:endParaRPr>
          </a:p>
        </p:txBody>
      </p:sp>
      <p:sp>
        <p:nvSpPr>
          <p:cNvPr id="3" name="Content Placeholder 2"/>
          <p:cNvSpPr>
            <a:spLocks noGrp="1"/>
          </p:cNvSpPr>
          <p:nvPr>
            <p:ph idx="1"/>
          </p:nvPr>
        </p:nvSpPr>
        <p:spPr/>
        <p:txBody>
          <a:bodyPr/>
          <a:lstStyle/>
          <a:p>
            <a:r>
              <a:rPr lang="en-US" b="1" dirty="0"/>
              <a:t>Title</a:t>
            </a:r>
            <a:r>
              <a:rPr lang="en-US" sz="1600" dirty="0"/>
              <a:t> </a:t>
            </a:r>
            <a:r>
              <a:rPr lang="en-US" sz="1800" dirty="0"/>
              <a:t>"Petri net modeling of information flow in the online train ticket booking system,"</a:t>
            </a:r>
            <a:endParaRPr lang="en-US" sz="1800" dirty="0">
              <a:latin typeface="Aptos Display" panose="020B0004020202020204" pitchFamily="34" charset="0"/>
            </a:endParaRPr>
          </a:p>
          <a:p>
            <a:r>
              <a:rPr lang="en-US" b="1" dirty="0"/>
              <a:t>Authors </a:t>
            </a:r>
            <a:r>
              <a:rPr lang="en-US" sz="1800" dirty="0">
                <a:latin typeface="Aptos Display" panose="020B0004020202020204" pitchFamily="34" charset="0"/>
              </a:rPr>
              <a:t>C. Song and W. Wu, "Petri net modeling of information flow in the online train ticket booking system," 2012 IEEE International Conference on Automation and Logistics, Zhengzhou, China, 2012, pp. 517-522, </a:t>
            </a:r>
            <a:r>
              <a:rPr lang="en-US" sz="1800" dirty="0" err="1">
                <a:latin typeface="Aptos Display" panose="020B0004020202020204" pitchFamily="34" charset="0"/>
              </a:rPr>
              <a:t>doi</a:t>
            </a:r>
            <a:r>
              <a:rPr lang="en-US" sz="1800" dirty="0">
                <a:latin typeface="Aptos Display" panose="020B0004020202020204" pitchFamily="34" charset="0"/>
              </a:rPr>
              <a:t>: 10.1109/ICAL.2012.6308258</a:t>
            </a:r>
          </a:p>
          <a:p>
            <a:r>
              <a:rPr lang="en-US" sz="1800" b="1" dirty="0"/>
              <a:t> keywords</a:t>
            </a:r>
            <a:r>
              <a:rPr lang="en-US" sz="1800" dirty="0">
                <a:latin typeface="Aptos Display" panose="020B0004020202020204" pitchFamily="34" charset="0"/>
              </a:rPr>
              <a:t>: {</a:t>
            </a:r>
            <a:r>
              <a:rPr lang="en-US" sz="1800" dirty="0" err="1">
                <a:latin typeface="Aptos Display" panose="020B0004020202020204" pitchFamily="34" charset="0"/>
              </a:rPr>
              <a:t>Software;Mathematical</a:t>
            </a:r>
            <a:r>
              <a:rPr lang="en-US" sz="1800" dirty="0">
                <a:latin typeface="Aptos Display" panose="020B0004020202020204" pitchFamily="34" charset="0"/>
              </a:rPr>
              <a:t> </a:t>
            </a:r>
            <a:r>
              <a:rPr lang="en-US" sz="1800" dirty="0" err="1">
                <a:latin typeface="Aptos Display" panose="020B0004020202020204" pitchFamily="34" charset="0"/>
              </a:rPr>
              <a:t>model;Petri</a:t>
            </a:r>
            <a:r>
              <a:rPr lang="en-US" sz="1800" dirty="0">
                <a:latin typeface="Aptos Display" panose="020B0004020202020204" pitchFamily="34" charset="0"/>
              </a:rPr>
              <a:t> </a:t>
            </a:r>
            <a:r>
              <a:rPr lang="en-US" sz="1800" dirty="0" err="1">
                <a:latin typeface="Aptos Display" panose="020B0004020202020204" pitchFamily="34" charset="0"/>
              </a:rPr>
              <a:t>nets;Analytical</a:t>
            </a:r>
            <a:r>
              <a:rPr lang="en-US" sz="1800" dirty="0">
                <a:latin typeface="Aptos Display" panose="020B0004020202020204" pitchFamily="34" charset="0"/>
              </a:rPr>
              <a:t> </a:t>
            </a:r>
            <a:r>
              <a:rPr lang="en-US" sz="1800" dirty="0" err="1">
                <a:latin typeface="Aptos Display" panose="020B0004020202020204" pitchFamily="34" charset="0"/>
              </a:rPr>
              <a:t>models;Electronic</a:t>
            </a:r>
            <a:r>
              <a:rPr lang="en-US" sz="1800" dirty="0">
                <a:latin typeface="Aptos Display" panose="020B0004020202020204" pitchFamily="34" charset="0"/>
              </a:rPr>
              <a:t> </a:t>
            </a:r>
            <a:r>
              <a:rPr lang="en-US" sz="1800" dirty="0" err="1">
                <a:latin typeface="Aptos Display" panose="020B0004020202020204" pitchFamily="34" charset="0"/>
              </a:rPr>
              <a:t>mail;Computer</a:t>
            </a:r>
            <a:r>
              <a:rPr lang="en-US" sz="1800" dirty="0">
                <a:latin typeface="Aptos Display" panose="020B0004020202020204" pitchFamily="34" charset="0"/>
              </a:rPr>
              <a:t> </a:t>
            </a:r>
            <a:r>
              <a:rPr lang="en-US" sz="1800" dirty="0" err="1">
                <a:latin typeface="Aptos Display" panose="020B0004020202020204" pitchFamily="34" charset="0"/>
              </a:rPr>
              <a:t>crashes;Computers;Online</a:t>
            </a:r>
            <a:r>
              <a:rPr lang="en-US" sz="1800" dirty="0">
                <a:latin typeface="Aptos Display" panose="020B0004020202020204" pitchFamily="34" charset="0"/>
              </a:rPr>
              <a:t> Train Ticket Booking </a:t>
            </a:r>
            <a:r>
              <a:rPr lang="en-US" sz="1800" dirty="0" err="1">
                <a:latin typeface="Aptos Display" panose="020B0004020202020204" pitchFamily="34" charset="0"/>
              </a:rPr>
              <a:t>System;Information</a:t>
            </a:r>
            <a:r>
              <a:rPr lang="en-US" sz="1800" dirty="0">
                <a:latin typeface="Aptos Display" panose="020B0004020202020204" pitchFamily="34" charset="0"/>
              </a:rPr>
              <a:t> </a:t>
            </a:r>
            <a:r>
              <a:rPr lang="en-US" sz="1800" dirty="0" err="1">
                <a:latin typeface="Aptos Display" panose="020B0004020202020204" pitchFamily="34" charset="0"/>
              </a:rPr>
              <a:t>Flow;Petri</a:t>
            </a:r>
            <a:r>
              <a:rPr lang="en-US" sz="1800" dirty="0">
                <a:latin typeface="Aptos Display" panose="020B0004020202020204" pitchFamily="34" charset="0"/>
              </a:rPr>
              <a:t> </a:t>
            </a:r>
            <a:r>
              <a:rPr lang="en-US" sz="1800" dirty="0" err="1">
                <a:latin typeface="Aptos Display" panose="020B0004020202020204" pitchFamily="34" charset="0"/>
              </a:rPr>
              <a:t>Net;Modeling</a:t>
            </a:r>
            <a:r>
              <a:rPr lang="en-US" sz="1800" dirty="0">
                <a:latin typeface="Aptos Display" panose="020B0004020202020204" pitchFamily="34" charset="0"/>
              </a:rPr>
              <a:t>}</a:t>
            </a:r>
          </a:p>
          <a:p>
            <a:endParaRPr lang="en-US" sz="1800" dirty="0">
              <a:latin typeface="Aptos Display" panose="020B0004020202020204" pitchFamily="34" charset="0"/>
            </a:endParaRPr>
          </a:p>
          <a:p>
            <a:endParaRPr lang="en-US" dirty="0"/>
          </a:p>
        </p:txBody>
      </p:sp>
    </p:spTree>
    <p:custDataLst>
      <p:tags r:id="rId1"/>
    </p:custDataLst>
    <p:extLst>
      <p:ext uri="{BB962C8B-B14F-4D97-AF65-F5344CB8AC3E}">
        <p14:creationId xmlns:p14="http://schemas.microsoft.com/office/powerpoint/2010/main" val="32772628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                     References</a:t>
            </a:r>
            <a:endParaRPr lang="en-IN" b="1" dirty="0">
              <a:latin typeface="+mj-lt"/>
            </a:endParaRPr>
          </a:p>
        </p:txBody>
      </p:sp>
      <p:sp>
        <p:nvSpPr>
          <p:cNvPr id="3" name="Content Placeholder 2"/>
          <p:cNvSpPr>
            <a:spLocks noGrp="1"/>
          </p:cNvSpPr>
          <p:nvPr>
            <p:ph idx="1"/>
          </p:nvPr>
        </p:nvSpPr>
        <p:spPr/>
        <p:txBody>
          <a:bodyPr>
            <a:normAutofit/>
          </a:bodyPr>
          <a:lstStyle/>
          <a:p>
            <a:pPr algn="l"/>
            <a:r>
              <a:rPr lang="en-IN" sz="1900" b="0" i="0" dirty="0">
                <a:solidFill>
                  <a:srgbClr val="333333"/>
                </a:solidFill>
                <a:effectLst/>
                <a:latin typeface="Aptos Display" panose="020B0004020202020204" pitchFamily="34" charset="0"/>
              </a:rPr>
              <a:t>1. The Petri net language: Concept, technology, and tools</a:t>
            </a:r>
          </a:p>
          <a:p>
            <a:pPr algn="l"/>
            <a:r>
              <a:rPr lang="en-IN" sz="1900" b="0" i="0" dirty="0">
                <a:solidFill>
                  <a:srgbClr val="333333"/>
                </a:solidFill>
                <a:effectLst/>
                <a:latin typeface="Aptos Display" panose="020B0004020202020204" pitchFamily="34" charset="0"/>
              </a:rPr>
              <a:t>2. An algorithm for the general Petri net reachability problem</a:t>
            </a:r>
          </a:p>
          <a:p>
            <a:pPr algn="l"/>
            <a:r>
              <a:rPr lang="en-IN" sz="1900" b="0" i="0" dirty="0">
                <a:solidFill>
                  <a:srgbClr val="333333"/>
                </a:solidFill>
                <a:effectLst/>
                <a:latin typeface="Aptos Display" panose="020B0004020202020204" pitchFamily="34" charset="0"/>
              </a:rPr>
              <a:t>3. Real-time deadlock-free scheduling for semiconductor track systems based on </a:t>
            </a:r>
            <a:r>
              <a:rPr lang="en-IN" sz="1900" b="0" i="0" dirty="0" err="1">
                <a:solidFill>
                  <a:srgbClr val="333333"/>
                </a:solidFill>
                <a:effectLst/>
                <a:latin typeface="Aptos Display" panose="020B0004020202020204" pitchFamily="34" charset="0"/>
              </a:rPr>
              <a:t>colored</a:t>
            </a:r>
            <a:r>
              <a:rPr lang="en-IN" sz="1900" b="0" i="0" dirty="0">
                <a:solidFill>
                  <a:srgbClr val="333333"/>
                </a:solidFill>
                <a:effectLst/>
                <a:latin typeface="Aptos Display" panose="020B0004020202020204" pitchFamily="34" charset="0"/>
              </a:rPr>
              <a:t> timed Petri nets</a:t>
            </a:r>
          </a:p>
          <a:p>
            <a:pPr algn="l"/>
            <a:r>
              <a:rPr lang="en-IN" sz="1900" b="0" i="0" dirty="0">
                <a:solidFill>
                  <a:srgbClr val="333333"/>
                </a:solidFill>
                <a:effectLst/>
                <a:latin typeface="Aptos Display" panose="020B0004020202020204" pitchFamily="34" charset="0"/>
              </a:rPr>
              <a:t>4. Safety analysis using Petri nets</a:t>
            </a:r>
          </a:p>
          <a:p>
            <a:pPr algn="l"/>
            <a:r>
              <a:rPr lang="en-IN" sz="1900" b="0" i="0" dirty="0">
                <a:solidFill>
                  <a:srgbClr val="333333"/>
                </a:solidFill>
                <a:effectLst/>
                <a:latin typeface="Aptos Display" panose="020B0004020202020204" pitchFamily="34" charset="0"/>
              </a:rPr>
              <a:t>5. A Petri net technique for process planning cost estimation</a:t>
            </a:r>
          </a:p>
          <a:p>
            <a:pPr algn="l"/>
            <a:r>
              <a:rPr lang="en-IN" sz="1900" b="0" i="0" dirty="0">
                <a:solidFill>
                  <a:srgbClr val="333333"/>
                </a:solidFill>
                <a:effectLst/>
                <a:latin typeface="Aptos Display" panose="020B0004020202020204" pitchFamily="34" charset="0"/>
              </a:rPr>
              <a:t>6. A generic petri net model for dynamic process planning and sequence optimization</a:t>
            </a:r>
          </a:p>
          <a:p>
            <a:pPr algn="l"/>
            <a:r>
              <a:rPr lang="en-IN" sz="1900" b="0" i="0" dirty="0">
                <a:solidFill>
                  <a:srgbClr val="333333"/>
                </a:solidFill>
                <a:effectLst/>
                <a:latin typeface="Aptos Display" panose="020B0004020202020204" pitchFamily="34" charset="0"/>
              </a:rPr>
              <a:t>7. Timed Petri net simulation capability</a:t>
            </a:r>
          </a:p>
          <a:p>
            <a:pPr algn="l"/>
            <a:r>
              <a:rPr lang="en-IN" sz="1900" b="0" i="0" dirty="0">
                <a:solidFill>
                  <a:srgbClr val="333333"/>
                </a:solidFill>
                <a:effectLst/>
                <a:latin typeface="Aptos Display" panose="020B0004020202020204" pitchFamily="34" charset="0"/>
              </a:rPr>
              <a:t>8. Using state equation to prove non-reachability in timed Petri nets</a:t>
            </a:r>
          </a:p>
          <a:p>
            <a:pPr algn="l"/>
            <a:r>
              <a:rPr lang="en-IN" sz="1900" b="0" i="0" dirty="0">
                <a:solidFill>
                  <a:srgbClr val="333333"/>
                </a:solidFill>
                <a:effectLst/>
                <a:latin typeface="Aptos Display" panose="020B0004020202020204" pitchFamily="34" charset="0"/>
              </a:rPr>
              <a:t>9. Manufacturing system optimization based on Petri net</a:t>
            </a:r>
          </a:p>
          <a:p>
            <a:pPr algn="l"/>
            <a:r>
              <a:rPr lang="en-IN" sz="1900" b="0" i="0" dirty="0">
                <a:solidFill>
                  <a:srgbClr val="333333"/>
                </a:solidFill>
                <a:effectLst/>
                <a:latin typeface="Aptos Display" panose="020B0004020202020204" pitchFamily="34" charset="0"/>
              </a:rPr>
              <a:t>10. Petri nets: Properties, analysis and applications</a:t>
            </a:r>
          </a:p>
          <a:p>
            <a:endParaRPr lang="en-US" dirty="0"/>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9426</TotalTime>
  <Words>2243</Words>
  <Application>Microsoft Office PowerPoint</Application>
  <PresentationFormat>On-screen Show (4:3)</PresentationFormat>
  <Paragraphs>194</Paragraphs>
  <Slides>26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 Display</vt:lpstr>
      <vt:lpstr>Arial</vt:lpstr>
      <vt:lpstr>Calibri</vt:lpstr>
      <vt:lpstr>Open Sans Bold</vt:lpstr>
      <vt:lpstr>Open Sans Extrabold</vt:lpstr>
      <vt:lpstr>Open Sans Light</vt:lpstr>
      <vt:lpstr>Wingdings</vt:lpstr>
      <vt:lpstr>Office Theme</vt:lpstr>
      <vt:lpstr>PowerPoint Presentation</vt:lpstr>
      <vt:lpstr>                          Abstract</vt:lpstr>
      <vt:lpstr>     Need for the Proposed System</vt:lpstr>
      <vt:lpstr> Advantages of the Proposed System</vt:lpstr>
      <vt:lpstr>              Literature Survey </vt:lpstr>
      <vt:lpstr>                   Main Objective</vt:lpstr>
      <vt:lpstr>                       Architecture</vt:lpstr>
      <vt:lpstr>           System Requirements</vt:lpstr>
      <vt:lpstr>            Functional Description</vt:lpstr>
      <vt:lpstr>          Functional Description</vt:lpstr>
      <vt:lpstr>                 Process Design</vt:lpstr>
      <vt:lpstr>PowerPoint Presentation</vt:lpstr>
      <vt:lpstr>                  Process Design</vt:lpstr>
      <vt:lpstr>PowerPoint Presentation</vt:lpstr>
      <vt:lpstr>                 Implementation</vt:lpstr>
      <vt:lpstr>PowerPoint Presentation</vt:lpstr>
      <vt:lpstr>PowerPoint Presentation</vt:lpstr>
      <vt:lpstr>PowerPoint Presentation</vt:lpstr>
      <vt:lpstr>PowerPoint Presentation</vt:lpstr>
      <vt:lpstr>                         Testing</vt:lpstr>
      <vt:lpstr>PowerPoint Presentation</vt:lpstr>
      <vt:lpstr>                     Conclusions</vt:lpstr>
      <vt:lpstr>            Future Enhancement</vt:lpstr>
      <vt:lpstr>                        IEEE Paper</vt:lpstr>
      <vt:lpstr>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Vijayetha Sivakumar</dc:creator>
  <cp:lastModifiedBy>Vijayetha sivakumar</cp:lastModifiedBy>
  <cp:revision>1744</cp:revision>
  <dcterms:created xsi:type="dcterms:W3CDTF">2013-05-17T03:00:03Z</dcterms:created>
  <dcterms:modified xsi:type="dcterms:W3CDTF">2024-11-22T03:30:18Z</dcterms:modified>
</cp:coreProperties>
</file>